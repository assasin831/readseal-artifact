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492240" cy="1344168"/>
  <p:notesSz cx="1344168" cy="64922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Slide 1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307611" y="13716"/>
            <ns1:ext cx="5877019" cy="155448"/>
          </ns1:xfrm>
          <ns1:prstGeom prst="rect">
            <ns1:avLst/>
          </ns1:prstGeom>
          <ns1:solidFill>
            <ns1:srgbClr val="FFFFFF"/>
          </ns1:solidFill>
          <ns1:ln w="6350">
            <ns1:solidFill>
              <ns1:srgbClr val="A6A6A6"/>
            </ns1:solidFill>
            <ns1:prstDash val="solid"/>
          </ns1:ln>
        </ns0:spPr>
      </ns0:sp>
      <ns0:sp>
        <ns0:nvSpPr>
          <ns0:cNvPr id="3" name="Shape 1"/>
          <ns0:cNvSpPr/>
          <ns0:nvPr/>
        </ns0:nvSpPr>
        <ns0:spPr>
          <ns1:xfrm>
            <ns1:off x="371619" y="50292"/>
            <ns1:ext cx="100584" cy="82296"/>
          </ns1:xfrm>
          <ns1:prstGeom prst="rect">
            <ns1:avLst/>
          </ns1:prstGeom>
          <ns1:solidFill>
            <ns1:srgbClr val="4472C4"/>
          </ns1:solidFill>
          <ns1:ln/>
        </ns0:spPr>
      </ns0:sp>
      <ns0:sp>
        <ns0:nvSpPr>
          <ns0:cNvPr id="4" name="Shape 2"/>
          <ns0:cNvSpPr/>
          <ns0:nvPr/>
        </ns0:nvSpPr>
        <ns0:spPr>
          <ns1:xfrm>
            <ns1:off x="371619" y="50292"/>
            <ns1:ext cx="100584" cy="82296"/>
          </ns1:xfrm>
          <ns1:prstGeom prst="rect">
            <ns1:avLst/>
          </ns1:prstGeom>
          <ns1:ln w="7620">
            <ns1:solidFill>
              <ns1:srgbClr val="2F5597"/>
            </ns1:solidFill>
            <ns1:prstDash val="solid"/>
          </ns1:ln>
        </ns0:spPr>
      </ns0:sp>
      <ns0:sp>
        <ns0:nvSpPr>
          <ns0:cNvPr id="5" name="Shape 3"/>
          <ns0:cNvSpPr/>
          <ns0:nvPr/>
        </ns0:nvSpPr>
        <ns0:spPr>
          <ns1:xfrm>
            <ns1:off x="499635" y="91440"/>
            <ns1:ext cx="146304" cy="914"/>
          </ns1:xfrm>
          <ns1:custGeom>
            <ns1:avLst/>
            <ns1:gdLst/>
            <ns1:ahLst/>
            <ns1:cxnLst/>
            <ns1:rect l="l" t="t" r="r" b="b"/>
            <ns1:pathLst>
              <ns1:path w="146304" h="914">
                <ns1:moveTo>
                  <ns1:pt x="0" y="0"/>
                </ns1:moveTo>
                <ns1:lnTo>
                  <ns1:pt x="146304" y="0"/>
                </ns1:lnTo>
              </ns1:path>
            </ns1:pathLst>
          </ns1:custGeom>
          <ns1:ln w="13970">
            <ns1:solidFill>
              <ns1:srgbClr val="4472C4"/>
            </ns1:solidFill>
            <ns1:prstDash val="solid"/>
          </ns1:ln>
        </ns0:spPr>
      </ns0:sp>
      <ns0:sp>
        <ns0:nvSpPr>
          <ns0:cNvPr id="6" name="Shape 4"/>
          <ns0:cNvSpPr/>
          <ns0:nvPr/>
        </ns0:nvSpPr>
        <ns0:spPr>
          <ns1:xfrm>
            <ns1:off x="547641" y="66294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7" name="Text 5"/>
          <ns0:cNvSpPr txBox="1"/>
          <ns0:nvPr/>
        </ns0:nvSpPr>
        <ns0:spPr>
          <ns1:xfrm>
            <ns1:off x="687087" y="27432"/>
            <ns1:ext cx="590798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8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BIM + ReadSeal</ns1:t>
            </ns1:r>
            <ns1:endParaRPr lang="en-US" sz="680" dirty="0"/>
          </ns1:p>
        </ns0:txBody>
      </ns0:sp>
      <ns0:sp>
        <ns0:nvSpPr>
          <ns0:cNvPr id="8" name="Shape 6"/>
          <ns0:cNvSpPr/>
          <ns0:nvPr/>
        </ns0:nvSpPr>
        <ns0:spPr>
          <ns1:xfrm>
            <ns1:off x="1351037" y="50292"/>
            <ns1:ext cx="100584" cy="82296"/>
          </ns1:xfrm>
          <ns1:prstGeom prst="rect">
            <ns1:avLst/>
          </ns1:prstGeom>
          <ns1:solidFill>
            <ns1:srgbClr val="FFFFFF"/>
          </ns1:solidFill>
          <ns1:ln/>
        </ns0:spPr>
      </ns0:sp>
      <ns0:sp>
        <ns0:nvSpPr>
          <ns0:cNvPr id="9" name="Shape 7"/>
          <ns0:cNvSpPr/>
          <ns0:nvPr/>
        </ns0:nvSpPr>
        <ns0:spPr>
          <ns1:xfrm flipV="1">
            <ns1:off x="1351037" y="50292"/>
            <ns1:ext cx="18288" cy="18288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0" name="Shape 8"/>
          <ns0:cNvSpPr/>
          <ns0:nvPr/>
        </ns0:nvSpPr>
        <ns0:spPr>
          <ns1:xfrm flipV="1">
            <ns1:off x="1351037" y="50292"/>
            <ns1:ext cx="54864" cy="548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1" name="Shape 9"/>
          <ns0:cNvSpPr/>
          <ns0:nvPr/>
        </ns0:nvSpPr>
        <ns0:spPr>
          <ns1:xfrm flipV="1">
            <ns1:off x="1360181" y="50292"/>
            <ns1:ext cx="82296" cy="82296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2" name="Shape 10"/>
          <ns0:cNvSpPr/>
          <ns0:nvPr/>
        </ns0:nvSpPr>
        <ns0:spPr>
          <ns1:xfrm flipV="1">
            <ns1:off x="1396757" y="77724"/>
            <ns1:ext cx="54864" cy="548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3" name="Shape 11"/>
          <ns0:cNvSpPr/>
          <ns0:nvPr/>
        </ns0:nvSpPr>
        <ns0:spPr>
          <ns1:xfrm flipV="1">
            <ns1:off x="1433333" y="114300"/>
            <ns1:ext cx="18288" cy="18288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14" name="Shape 12"/>
          <ns0:cNvSpPr/>
          <ns0:nvPr/>
        </ns0:nvSpPr>
        <ns0:spPr>
          <ns1:xfrm>
            <ns1:off x="1351037" y="50292"/>
            <ns1:ext cx="100584" cy="82296"/>
          </ns1:xfrm>
          <ns1:prstGeom prst="rect">
            <ns1:avLst/>
          </ns1:prstGeom>
          <ns1:ln w="7620">
            <ns1:solidFill>
              <ns1:srgbClr val="C55A11"/>
            </ns1:solidFill>
            <ns1:prstDash val="solid"/>
          </ns1:ln>
        </ns0:spPr>
      </ns0:sp>
      <ns0:sp>
        <ns0:nvSpPr>
          <ns0:cNvPr id="15" name="Shape 13"/>
          <ns0:cNvSpPr/>
          <ns0:nvPr/>
        </ns0:nvSpPr>
        <ns0:spPr>
          <ns1:xfrm>
            <ns1:off x="1479053" y="91440"/>
            <ns1:ext cx="146304" cy="914"/>
          </ns1:xfrm>
          <ns1:custGeom>
            <ns1:avLst/>
            <ns1:gdLst/>
            <ns1:ahLst/>
            <ns1:cxnLst/>
            <ns1:rect l="l" t="t" r="r" b="b"/>
            <ns1:pathLst>
              <ns1:path w="146304" h="914">
                <ns1:moveTo>
                  <ns1:pt x="0" y="0"/>
                </ns1:moveTo>
                <ns1:lnTo>
                  <ns1:pt x="146304" y="0"/>
                </ns1:lnTo>
              </ns1:path>
            </ns1:pathLst>
          </ns1:custGeom>
          <ns1:ln w="13970">
            <ns1:solidFill>
              <ns1:srgbClr val="ED7D31"/>
            </ns1:solidFill>
            <ns1:prstDash val="dash"/>
          </ns1:ln>
        </ns0:spPr>
      </ns0:sp>
      <ns0:sp>
        <ns0:nvSpPr>
          <ns0:cNvPr id="16" name="Shape 14"/>
          <ns0:cNvSpPr/>
          <ns0:nvPr/>
        </ns0:nvSpPr>
        <ns0:spPr>
          <ns1:xfrm>
            <ns1:off x="1519515" y="58750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17" name="Text 15"/>
          <ns0:cNvSpPr txBox="1"/>
          <ns0:nvPr/>
        </ns0:nvSpPr>
        <ns0:spPr>
          <ns1:xfrm>
            <ns1:off x="1666505" y="27432"/>
            <ns1:ext cx="312857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8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Manual</ns1:t>
            </ns1:r>
            <ns1:endParaRPr lang="en-US" sz="680" dirty="0"/>
          </ns1:p>
        </ns0:txBody>
      </ns0:sp>
      <ns0:sp>
        <ns0:nvSpPr>
          <ns0:cNvPr id="18" name="Shape 16"/>
          <ns0:cNvSpPr/>
          <ns0:nvPr/>
        </ns0:nvSpPr>
        <ns0:spPr>
          <ns1:xfrm>
            <ns1:off x="2052514" y="50292"/>
            <ns1:ext cx="100584" cy="82296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19" name="Shape 17"/>
          <ns0:cNvSpPr/>
          <ns0:nvPr/>
        </ns0:nvSpPr>
        <ns0:spPr>
          <ns1:xfrm>
            <ns1:off x="2052514" y="114300"/>
            <ns1:ext cx="18288" cy="18288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0" name="Shape 18"/>
          <ns0:cNvSpPr/>
          <ns0:nvPr/>
        </ns0:nvSpPr>
        <ns0:spPr>
          <ns1:xfrm>
            <ns1:off x="2052514" y="77724"/>
            <ns1:ext cx="54864" cy="548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1" name="Shape 19"/>
          <ns0:cNvSpPr/>
          <ns0:nvPr/>
        </ns0:nvSpPr>
        <ns0:spPr>
          <ns1:xfrm>
            <ns1:off x="2061658" y="50292"/>
            <ns1:ext cx="82296" cy="82296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2" name="Shape 20"/>
          <ns0:cNvSpPr/>
          <ns0:nvPr/>
        </ns0:nvSpPr>
        <ns0:spPr>
          <ns1:xfrm>
            <ns1:off x="2098234" y="50292"/>
            <ns1:ext cx="54864" cy="548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3" name="Shape 21"/>
          <ns0:cNvSpPr/>
          <ns0:nvPr/>
        </ns0:nvSpPr>
        <ns0:spPr>
          <ns1:xfrm>
            <ns1:off x="2134810" y="50292"/>
            <ns1:ext cx="18288" cy="18288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4" name="Shape 22"/>
          <ns0:cNvSpPr/>
          <ns0:nvPr/>
        </ns0:nvSpPr>
        <ns0:spPr>
          <ns1:xfrm>
            <ns1:off x="2052514" y="50292"/>
            <ns1:ext cx="100584" cy="82296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25" name="Shape 23"/>
          <ns0:cNvSpPr/>
          <ns0:nvPr/>
        </ns0:nvSpPr>
        <ns0:spPr>
          <ns1:xfrm>
            <ns1:off x="2180530" y="91440"/>
            <ns1:ext cx="146304" cy="914"/>
          </ns1:xfrm>
          <ns1:custGeom>
            <ns1:avLst/>
            <ns1:gdLst/>
            <ns1:ahLst/>
            <ns1:cxnLst/>
            <ns1:rect l="l" t="t" r="r" b="b"/>
            <ns1:pathLst>
              <ns1:path w="146304" h="914">
                <ns1:moveTo>
                  <ns1:pt x="0" y="0"/>
                </ns1:moveTo>
                <ns1:lnTo>
                  <ns1:pt x="146304" y="0"/>
                </ns1:lnTo>
              </ns1:path>
            </ns1:pathLst>
          </ns1:custGeom>
          <ns1:ln w="13970">
            <ns1:solidFill>
              <ns1:srgbClr val="7F7F7F"/>
            </ns1:solidFill>
            <ns1:prstDash val="solid"/>
          </ns1:ln>
        </ns0:spPr>
      </ns0:sp>
      <ns0:sp>
        <ns0:nvSpPr>
          <ns0:cNvPr id="26" name="Shape 24"/>
          <ns0:cNvSpPr/>
          <ns0:nvPr/>
        </ns0:nvSpPr>
        <ns0:spPr>
          <ns1:xfrm>
            <ns1:off x="2231051" y="68809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27" name="Text 25"/>
          <ns0:cNvSpPr txBox="1"/>
          <ns0:nvPr/>
        </ns0:nvSpPr>
        <ns0:spPr>
          <ns1:xfrm>
            <ns1:off x="2367982" y="27432"/>
            <ns1:ext cx="519957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8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Full retention</ns1:t>
            </ns1:r>
            <ns1:endParaRPr lang="en-US" sz="680" dirty="0"/>
          </ns1:p>
        </ns0:txBody>
      </ns0:sp>
      <ns0:sp>
        <ns0:nvSpPr>
          <ns0:cNvPr id="28" name="Shape 26"/>
          <ns0:cNvSpPr/>
          <ns0:nvPr/>
        </ns0:nvSpPr>
        <ns0:spPr>
          <ns1:xfrm>
            <ns1:off x="2961092" y="50292"/>
            <ns1:ext cx="219456" cy="82296"/>
          </ns1:xfrm>
          <ns1:prstGeom prst="rect">
            <ns1:avLst/>
          </ns1:prstGeom>
          <ns1:solidFill>
            <ns1:srgbClr val="BDD7EE"/>
          </ns1:solidFill>
          <ns1:ln/>
        </ns0:spPr>
      </ns0:sp>
      <ns0:sp>
        <ns0:nvSpPr>
          <ns0:cNvPr id="29" name="Text 27"/>
          <ns0:cNvSpPr txBox="1"/>
          <ns0:nvPr/>
        </ns0:nvSpPr>
        <ns0:spPr>
          <ns1:xfrm>
            <ns1:off x="3221696" y="27432"/>
            <ns1:ext cx="880061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8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BIM hold, 5th–95th pct.</ns1:t>
            </ns1:r>
            <ns1:endParaRPr lang="en-US" sz="680" dirty="0"/>
          </ns1:p>
        </ns0:txBody>
      </ns0:sp>
      <ns0:sp>
        <ns0:nvSpPr>
          <ns0:cNvPr id="30" name="Shape 28"/>
          <ns0:cNvSpPr/>
          <ns0:nvPr/>
        </ns0:nvSpPr>
        <ns0:spPr>
          <ns1:xfrm>
            <ns1:off x="4174909" y="91440"/>
            <ns1:ext cx="274320" cy="914"/>
          </ns1:xfrm>
          <ns1:custGeom>
            <ns1:avLst/>
            <ns1:gdLst/>
            <ns1:ahLst/>
            <ns1:cxnLst/>
            <ns1:rect l="l" t="t" r="r" b="b"/>
            <ns1:pathLst>
              <ns1:path w="274320" h="914">
                <ns1:moveTo>
                  <ns1:pt x="0" y="0"/>
                </ns1:moveTo>
                <ns1:lnTo>
                  <ns1:pt x="274320" y="0"/>
                </ns1:lnTo>
              </ns1:path>
            </ns1:pathLst>
          </ns1:custGeom>
          <ns1:ln w="10160">
            <ns1:solidFill>
              <ns1:srgbClr val="404040"/>
            </ns1:solidFill>
            <ns1:prstDash val="sysDot"/>
          </ns1:ln>
        </ns0:spPr>
      </ns0:sp>
      <ns0:sp>
        <ns0:nvSpPr>
          <ns0:cNvPr id="31" name="Text 29"/>
          <ns0:cNvSpPr txBox="1"/>
          <ns0:nvPr/>
        </ns0:nvSpPr>
        <ns0:spPr>
          <ns1:xfrm>
            <ns1:off x="4490377" y="27432"/>
            <ns1:ext cx="778606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8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offered load / period</ns1:t>
            </ns1:r>
            <ns1:endParaRPr lang="en-US" sz="680" dirty="0"/>
          </ns1:p>
        </ns0:txBody>
      </ns0:sp>
      <ns0:sp>
        <ns0:nvSpPr>
          <ns0:cNvPr id="32" name="Shape 30"/>
          <ns0:cNvSpPr/>
          <ns0:nvPr/>
        </ns0:nvSpPr>
        <ns0:spPr>
          <ns1:xfrm>
            <ns1:off x="5342134" y="91440"/>
            <ns1:ext cx="274320" cy="914"/>
          </ns1:xfrm>
          <ns1:custGeom>
            <ns1:avLst/>
            <ns1:gdLst/>
            <ns1:ahLst/>
            <ns1:cxnLst/>
            <ns1:rect l="l" t="t" r="r" b="b"/>
            <ns1:pathLst>
              <ns1:path w="274320" h="914">
                <ns1:moveTo>
                  <ns1:pt x="0" y="0"/>
                </ns1:moveTo>
                <ns1:lnTo>
                  <ns1:pt x="274320" y="0"/>
                </ns1:lnTo>
              </ns1:path>
            </ns1:pathLst>
          </ns1:custGeom>
          <ns1:ln w="8890">
            <ns1:solidFill>
              <ns1:srgbClr val="595959"/>
            </ns1:solidFill>
            <ns1:prstDash val="dash"/>
          </ns1:ln>
        </ns0:spPr>
      </ns0:sp>
      <ns0:sp>
        <ns0:nvSpPr>
          <ns0:cNvPr id="33" name="Text 31"/>
          <ns0:cNvSpPr txBox="1"/>
          <ns0:nvPr/>
        </ns0:nvSpPr>
        <ns0:spPr>
          <ns1:xfrm>
            <ns1:off x="5657602" y="27432"/>
            <ns1:ext cx="508739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8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GPU capacity</ns1:t>
            </ns1:r>
            <ns1:endParaRPr lang="en-US" sz="680" dirty="0"/>
          </ns1:p>
        </ns0:txBody>
      </ns0:sp>
      <ns0:sp>
        <ns0:nvSpPr>
          <ns0:cNvPr id="34" name="Shape 32"/>
          <ns0:cNvSpPr/>
          <ns0:nvPr/>
        </ns0:nvSpPr>
        <ns0:spPr>
          <ns1:xfrm>
            <ns1:off x="817389" y="246888"/>
            <ns1:ext cx="897111" cy="658368"/>
          </ns1:xfrm>
          <ns1:prstGeom prst="rect">
            <ns1:avLst/>
          </ns1:prstGeom>
          <ns1:solidFill>
            <ns1:srgbClr val="F2F2F2"/>
          </ns1:solidFill>
          <ns1:ln/>
        </ns0:spPr>
      </ns0:sp>
      <ns0:sp>
        <ns0:nvSpPr>
          <ns0:cNvPr id="35" name="Shape 33"/>
          <ns0:cNvSpPr/>
          <ns0:nvPr/>
        </ns0:nvSpPr>
        <ns0:spPr>
          <ns1:xfrm>
            <ns1:off x="342900" y="773582"/>
            <ns1:ext cx="1371600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36" name="Shape 34"/>
          <ns0:cNvSpPr/>
          <ns0:nvPr/>
        </ns0:nvSpPr>
        <ns0:spPr>
          <ns1:xfrm>
            <ns1:off x="342900" y="641909"/>
            <ns1:ext cx="1371600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37" name="Shape 35"/>
          <ns0:cNvSpPr/>
          <ns0:nvPr/>
        </ns0:nvSpPr>
        <ns0:spPr>
          <ns1:xfrm>
            <ns1:off x="342900" y="510235"/>
            <ns1:ext cx="1371600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38" name="Shape 36"/>
          <ns0:cNvSpPr/>
          <ns0:nvPr/>
        </ns0:nvSpPr>
        <ns0:spPr>
          <ns1:xfrm>
            <ns1:off x="342900" y="378562"/>
            <ns1:ext cx="1371600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39" name="Shape 37"/>
          <ns0:cNvSpPr/>
          <ns0:nvPr/>
        </ns0:nvSpPr>
        <ns0:spPr>
          <ns1:xfrm>
            <ns1:off x="440871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40" name="Shape 38"/>
          <ns0:cNvSpPr/>
          <ns0:nvPr/>
        </ns0:nvSpPr>
        <ns0:spPr>
          <ns1:xfrm>
            <ns1:off x="636814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41" name="Shape 39"/>
          <ns0:cNvSpPr/>
          <ns0:nvPr/>
        </ns0:nvSpPr>
        <ns0:spPr>
          <ns1:xfrm>
            <ns1:off x="832757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42" name="Shape 40"/>
          <ns0:cNvSpPr/>
          <ns0:nvPr/>
        </ns0:nvSpPr>
        <ns0:spPr>
          <ns1:xfrm>
            <ns1:off x="1028700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43" name="Shape 41"/>
          <ns0:cNvSpPr/>
          <ns0:nvPr/>
        </ns0:nvSpPr>
        <ns0:spPr>
          <ns1:xfrm>
            <ns1:off x="1224643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44" name="Shape 42"/>
          <ns0:cNvSpPr/>
          <ns0:nvPr/>
        </ns0:nvSpPr>
        <ns0:spPr>
          <ns1:xfrm>
            <ns1:off x="1616529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45" name="Shape 43"/>
          <ns0:cNvSpPr/>
          <ns0:nvPr/>
        </ns0:nvSpPr>
        <ns0:spPr>
          <ns1:xfrm>
            <ns1:off x="440871" y="352227"/>
            <ns1:ext cx="431074" cy="289682"/>
          </ns1:xfrm>
          <ns1:custGeom>
            <ns1:avLst/>
            <ns1:gdLst/>
            <ns1:ahLst/>
            <ns1:cxnLst/>
            <ns1:rect l="l" t="t" r="r" b="b"/>
            <ns1:pathLst>
              <ns1:path w="431074" h="289682">
                <ns1:moveTo>
                  <ns1:pt x="0" y="289682"/>
                </ns1:moveTo>
                <ns1:lnTo>
                  <ns1:pt x="431074" y="0"/>
                </ns1:lnTo>
              </ns1:path>
            </ns1:pathLst>
          </ns1:custGeom>
          <ns1:ln w="8890">
            <ns1:solidFill>
              <ns1:srgbClr val="404040"/>
            </ns1:solidFill>
            <ns1:prstDash val="sysDot"/>
          </ns1:ln>
        </ns0:spPr>
      </ns0:sp>
      <ns0:sp>
        <ns0:nvSpPr>
          <ns0:cNvPr id="46" name="Shape 44"/>
          <ns0:cNvSpPr/>
          <ns0:nvPr/>
        </ns0:nvSpPr>
        <ns0:spPr>
          <ns1:xfrm>
            <ns1:off x="342900" y="389095"/>
            <ns1:ext cx="1371600" cy="0"/>
          </ns1:xfrm>
          <ns1:prstGeom prst="line">
            <ns1:avLst/>
          </ns1:prstGeom>
          <ns1:noFill/>
          <ns1:ln w="8890">
            <ns1:solidFill>
              <ns1:srgbClr val="595959"/>
            </ns1:solidFill>
            <ns1:prstDash val="dash"/>
          </ns1:ln>
        </ns0:spPr>
      </ns0:sp>
      <ns0:sp>
        <ns0:nvSpPr>
          <ns0:cNvPr id="47" name="Shape 45"/>
          <ns0:cNvSpPr/>
          <ns0:nvPr/>
        </ns0:nvSpPr>
        <ns0:spPr>
          <ns1:xfrm flipV="1">
            <ns1:off x="832757" y="436853"/>
            <ns1:ext cx="0" cy="157733"/>
          </ns1:xfrm>
          <ns1:prstGeom prst="line">
            <ns1:avLst/>
          </ns1:prstGeom>
          <ns1:noFill/>
          <ns1:ln w="6985">
            <ns1:solidFill>
              <ns1:srgbClr val="595959"/>
            </ns1:solidFill>
            <ns1:prstDash val="solid"/>
          </ns1:ln>
        </ns0:spPr>
      </ns0:sp>
      <ns0:sp>
        <ns0:nvSpPr>
          <ns0:cNvPr id="48" name="Shape 46"/>
          <ns0:cNvSpPr/>
          <ns0:nvPr/>
        </ns0:nvSpPr>
        <ns0:spPr>
          <ns1:xfrm>
            <ns1:off x="819041" y="409650"/>
            <ns1:ext cx="27432" cy="32004"/>
          </ns1:xfrm>
          <ns1:prstGeom prst="triangle">
            <ns1:avLst/>
          </ns1:prstGeom>
          <ns1:solidFill>
            <ns1:srgbClr val="595959"/>
          </ns1:solidFill>
          <ns1:ln/>
        </ns0:spPr>
      </ns0:sp>
      <ns0:sp>
        <ns0:nvSpPr>
          <ns0:cNvPr id="49" name="Shape 47"/>
          <ns0:cNvSpPr/>
          <ns0:nvPr/>
        </ns0:nvSpPr>
        <ns0:spPr>
          <ns1:xfrm rot="10800000">
            <ns1:off x="819041" y="589785"/>
            <ns1:ext cx="27432" cy="32004"/>
          </ns1:xfrm>
          <ns1:prstGeom prst="triangle">
            <ns1:avLst/>
          </ns1:prstGeom>
          <ns1:solidFill>
            <ns1:srgbClr val="595959"/>
          </ns1:solidFill>
          <ns1:ln/>
        </ns0:spPr>
      </ns0:sp>
      <ns0:sp>
        <ns0:nvSpPr>
          <ns0:cNvPr id="50" name="Text 48"/>
          <ns0:cNvSpPr txBox="1"/>
          <ns0:nvPr/>
        </ns0:nvSpPr>
        <ns0:spPr>
          <ns1:xfrm>
            <ns1:off x="695597" y="255849"/>
            <ns1:ext cx="27432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3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1.95</ns1:t>
            </ns1:r>
            <ns1:endParaRPr lang="en-US" sz="630" dirty="0"/>
          </ns1:p>
        </ns0:txBody>
      </ns0:sp>
      <ns0:sp>
        <ns0:nvSpPr>
          <ns0:cNvPr id="51" name="Shape 49"/>
          <ns0:cNvSpPr/>
          <ns0:nvPr/>
        </ns0:nvSpPr>
        <ns0:spPr>
          <ns1:xfrm flipV="1">
            <ns1:off x="1028700" y="458434"/>
            <ns1:ext cx="0" cy="70683"/>
          </ns1:xfrm>
          <ns1:prstGeom prst="line">
            <ns1:avLst/>
          </ns1:prstGeom>
          <ns1:noFill/>
          <ns1:ln w="6985">
            <ns1:solidFill>
              <ns1:srgbClr val="595959"/>
            </ns1:solidFill>
            <ns1:prstDash val="solid"/>
          </ns1:ln>
        </ns0:spPr>
      </ns0:sp>
      <ns0:sp>
        <ns0:nvSpPr>
          <ns0:cNvPr id="52" name="Shape 50"/>
          <ns0:cNvSpPr/>
          <ns0:nvPr/>
        </ns0:nvSpPr>
        <ns0:spPr>
          <ns1:xfrm>
            <ns1:off x="1014984" y="431231"/>
            <ns1:ext cx="27432" cy="32004"/>
          </ns1:xfrm>
          <ns1:prstGeom prst="triangle">
            <ns1:avLst/>
          </ns1:prstGeom>
          <ns1:solidFill>
            <ns1:srgbClr val="595959"/>
          </ns1:solidFill>
          <ns1:ln/>
        </ns0:spPr>
      </ns0:sp>
      <ns0:sp>
        <ns0:nvSpPr>
          <ns0:cNvPr id="53" name="Shape 51"/>
          <ns0:cNvSpPr/>
          <ns0:nvPr/>
        </ns0:nvSpPr>
        <ns0:spPr>
          <ns1:xfrm rot="10800000">
            <ns1:off x="1014984" y="524317"/>
            <ns1:ext cx="27432" cy="32004"/>
          </ns1:xfrm>
          <ns1:prstGeom prst="triangle">
            <ns1:avLst/>
          </ns1:prstGeom>
          <ns1:solidFill>
            <ns1:srgbClr val="595959"/>
          </ns1:solidFill>
          <ns1:ln/>
        </ns0:spPr>
      </ns0:sp>
      <ns0:sp>
        <ns0:nvSpPr>
          <ns0:cNvPr id="54" name="Text 52"/>
          <ns0:cNvSpPr txBox="1"/>
          <ns0:nvPr/>
        </ns0:nvSpPr>
        <ns0:spPr>
          <ns1:xfrm>
            <ns1:off x="891540" y="255849"/>
            <ns1:ext cx="27432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3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1.50</ns1:t>
            </ns1:r>
            <ns1:endParaRPr lang="en-US" sz="630" dirty="0"/>
          </ns1:p>
        </ns0:txBody>
      </ns0:sp>
      <ns0:sp>
        <ns0:nvSpPr>
          <ns0:cNvPr id="55" name="Shape 53"/>
          <ns0:cNvSpPr/>
          <ns0:nvPr/>
        </ns0:nvSpPr>
        <ns0:spPr>
          <ns1:xfrm flipV="1">
            <ns1:off x="1224643" y="435023"/>
            <ns1:ext cx="0" cy="28442"/>
          </ns1:xfrm>
          <ns1:prstGeom prst="line">
            <ns1:avLst/>
          </ns1:prstGeom>
          <ns1:noFill/>
          <ns1:ln w="6985">
            <ns1:solidFill>
              <ns1:srgbClr val="595959"/>
            </ns1:solidFill>
            <ns1:prstDash val="solid"/>
          </ns1:ln>
        </ns0:spPr>
      </ns0:sp>
      <ns0:sp>
        <ns0:nvSpPr>
          <ns0:cNvPr id="56" name="Shape 54"/>
          <ns0:cNvSpPr/>
          <ns0:nvPr/>
        </ns0:nvSpPr>
        <ns0:spPr>
          <ns1:xfrm>
            <ns1:off x="1210927" y="407819"/>
            <ns1:ext cx="27432" cy="32004"/>
          </ns1:xfrm>
          <ns1:prstGeom prst="triangle">
            <ns1:avLst/>
          </ns1:prstGeom>
          <ns1:solidFill>
            <ns1:srgbClr val="595959"/>
          </ns1:solidFill>
          <ns1:ln/>
        </ns0:spPr>
      </ns0:sp>
      <ns0:sp>
        <ns0:nvSpPr>
          <ns0:cNvPr id="57" name="Shape 55"/>
          <ns0:cNvSpPr/>
          <ns0:nvPr/>
        </ns0:nvSpPr>
        <ns0:spPr>
          <ns1:xfrm rot="10800000">
            <ns1:off x="1210927" y="458665"/>
            <ns1:ext cx="27432" cy="32004"/>
          </ns1:xfrm>
          <ns1:prstGeom prst="triangle">
            <ns1:avLst/>
          </ns1:prstGeom>
          <ns1:solidFill>
            <ns1:srgbClr val="595959"/>
          </ns1:solidFill>
          <ns1:ln/>
        </ns0:spPr>
      </ns0:sp>
      <ns0:sp>
        <ns0:nvSpPr>
          <ns0:cNvPr id="58" name="Text 56"/>
          <ns0:cNvSpPr txBox="1"/>
          <ns0:nvPr/>
        </ns0:nvSpPr>
        <ns0:spPr>
          <ns1:xfrm>
            <ns1:off x="1087483" y="255849"/>
            <ns1:ext cx="27432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3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1.31</ns1:t>
            </ns1:r>
            <ns1:endParaRPr lang="en-US" sz="630" dirty="0"/>
          </ns1:p>
        </ns0:txBody>
      </ns0:sp>
      <ns0:sp>
        <ns0:nvSpPr>
          <ns0:cNvPr id="59" name="Shape 57"/>
          <ns0:cNvSpPr/>
          <ns0:nvPr/>
        </ns0:nvSpPr>
        <ns0:spPr>
          <ns1:xfrm flipV="1">
            <ns1:off x="1616529" y="432100"/>
            <ns1:ext cx="0" cy="75074"/>
          </ns1:xfrm>
          <ns1:prstGeom prst="line">
            <ns1:avLst/>
          </ns1:prstGeom>
          <ns1:noFill/>
          <ns1:ln w="6985">
            <ns1:solidFill>
              <ns1:srgbClr val="595959"/>
            </ns1:solidFill>
            <ns1:prstDash val="solid"/>
          </ns1:ln>
        </ns0:spPr>
      </ns0:sp>
      <ns0:sp>
        <ns0:nvSpPr>
          <ns0:cNvPr id="60" name="Shape 58"/>
          <ns0:cNvSpPr/>
          <ns0:nvPr/>
        </ns0:nvSpPr>
        <ns0:spPr>
          <ns1:xfrm>
            <ns1:off x="1602813" y="404896"/>
            <ns1:ext cx="27432" cy="32004"/>
          </ns1:xfrm>
          <ns1:prstGeom prst="triangle">
            <ns1:avLst/>
          </ns1:prstGeom>
          <ns1:solidFill>
            <ns1:srgbClr val="595959"/>
          </ns1:solidFill>
          <ns1:ln/>
        </ns0:spPr>
      </ns0:sp>
      <ns0:sp>
        <ns0:nvSpPr>
          <ns0:cNvPr id="61" name="Shape 59"/>
          <ns0:cNvSpPr/>
          <ns0:nvPr/>
        </ns0:nvSpPr>
        <ns0:spPr>
          <ns1:xfrm rot="10800000">
            <ns1:off x="1602813" y="502374"/>
            <ns1:ext cx="27432" cy="32004"/>
          </ns1:xfrm>
          <ns1:prstGeom prst="triangle">
            <ns1:avLst/>
          </ns1:prstGeom>
          <ns1:solidFill>
            <ns1:srgbClr val="595959"/>
          </ns1:solidFill>
          <ns1:ln/>
        </ns0:spPr>
      </ns0:sp>
      <ns0:sp>
        <ns0:nvSpPr>
          <ns0:cNvPr id="62" name="Text 60"/>
          <ns0:cNvSpPr txBox="1"/>
          <ns0:nvPr/>
        </ns0:nvSpPr>
        <ns0:spPr>
          <ns1:xfrm>
            <ns1:off x="1479369" y="255849"/>
            <ns1:ext cx="27432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3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1.48</ns1:t>
            </ns1:r>
            <ns1:endParaRPr lang="en-US" sz="630" dirty="0"/>
          </ns1:p>
        </ns0:txBody>
      </ns0:sp>
      <ns0:sp>
        <ns0:nvSpPr>
          <ns0:cNvPr id="63" name="Shape 61"/>
          <ns0:cNvSpPr/>
          <ns0:nvPr/>
        </ns0:nvSpPr>
        <ns0:spPr>
          <ns1:xfrm>
            <ns1:off x="440871" y="510420"/>
            <ns1:ext cx="1175657" cy="131489"/>
          </ns1:xfrm>
          <ns1:custGeom>
            <ns1:avLst/>
            <ns1:gdLst/>
            <ns1:ahLst/>
            <ns1:cxnLst/>
            <ns1:rect l="l" t="t" r="r" b="b"/>
            <ns1:pathLst>
              <ns1:path w="1175657" h="131489">
                <ns1:moveTo>
                  <ns1:pt x="0" y="131489"/>
                </ns1:moveTo>
                <ns1:lnTo>
                  <ns1:pt x="195943" y="184"/>
                </ns1:lnTo>
                <ns1:lnTo>
                  <ns1:pt x="391886" y="131121"/>
                </ns1:lnTo>
                <ns1:lnTo>
                  <ns1:pt x="587829" y="65652"/>
                </ns1:lnTo>
                <ns1:lnTo>
                  <ns1:pt x="783771" y="0"/>
                </ns1:lnTo>
                <ns1:lnTo>
                  <ns1:pt x="1175657" y="43709"/>
                </ns1:lnTo>
              </ns1:path>
            </ns1:pathLst>
          </ns1:custGeom>
          <ns1:ln w="13970">
            <ns1:solidFill>
              <ns1:srgbClr val="7F7F7F"/>
            </ns1:solidFill>
            <ns1:prstDash val="solid"/>
          </ns1:ln>
        </ns0:spPr>
      </ns0:sp>
      <ns0:sp>
        <ns0:nvSpPr>
          <ns0:cNvPr id="64" name="Shape 62"/>
          <ns0:cNvSpPr/>
          <ns0:nvPr/>
        </ns0:nvSpPr>
        <ns0:spPr>
          <ns1:xfrm>
            <ns1:off x="418240" y="619277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65" name="Shape 63"/>
          <ns0:cNvSpPr/>
          <ns0:nvPr/>
        </ns0:nvSpPr>
        <ns0:spPr>
          <ns1:xfrm>
            <ns1:off x="614183" y="487972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66" name="Shape 64"/>
          <ns0:cNvSpPr/>
          <ns0:nvPr/>
        </ns0:nvSpPr>
        <ns0:spPr>
          <ns1:xfrm>
            <ns1:off x="810126" y="618909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67" name="Shape 65"/>
          <ns0:cNvSpPr/>
          <ns0:nvPr/>
        </ns0:nvSpPr>
        <ns0:spPr>
          <ns1:xfrm>
            <ns1:off x="1006069" y="553441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68" name="Shape 66"/>
          <ns0:cNvSpPr/>
          <ns0:nvPr/>
        </ns0:nvSpPr>
        <ns0:spPr>
          <ns1:xfrm>
            <ns1:off x="1202011" y="487788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69" name="Shape 67"/>
          <ns0:cNvSpPr/>
          <ns0:nvPr/>
        </ns0:nvSpPr>
        <ns0:spPr>
          <ns1:xfrm>
            <ns1:off x="1593897" y="531497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70" name="Shape 68"/>
          <ns0:cNvSpPr/>
          <ns0:nvPr/>
        </ns0:nvSpPr>
        <ns0:spPr>
          <ns1:xfrm>
            <ns1:off x="440871" y="385145"/>
            <ns1:ext cx="1175657" cy="256764"/>
          </ns1:xfrm>
          <ns1:custGeom>
            <ns1:avLst/>
            <ns1:gdLst/>
            <ns1:ahLst/>
            <ns1:cxnLst/>
            <ns1:rect l="l" t="t" r="r" b="b"/>
            <ns1:pathLst>
              <ns1:path w="1175657" h="256764">
                <ns1:moveTo>
                  <ns1:pt x="0" y="256764"/>
                </ns1:moveTo>
                <ns1:lnTo>
                  <ns1:pt x="195943" y="125366"/>
                </ns1:lnTo>
                <ns1:lnTo>
                  <ns1:pt x="391886" y="4753"/>
                </ns1:lnTo>
                <ns1:lnTo>
                  <ns1:pt x="587829" y="26335"/>
                </ns1:lnTo>
                <ns1:lnTo>
                  <ns1:pt x="783771" y="2923"/>
                </ns1:lnTo>
                <ns1:lnTo>
                  <ns1:pt x="1175657" y="0"/>
                </ns1:lnTo>
              </ns1:path>
            </ns1:pathLst>
          </ns1:custGeom>
          <ns1:ln w="16510">
            <ns1:solidFill>
              <ns1:srgbClr val="4472C4"/>
            </ns1:solidFill>
            <ns1:prstDash val="solid"/>
          </ns1:ln>
        </ns0:spPr>
      </ns0:sp>
      <ns0:sp>
        <ns0:nvSpPr>
          <ns0:cNvPr id="71" name="Shape 69"/>
          <ns0:cNvSpPr/>
          <ns0:nvPr/>
        </ns0:nvSpPr>
        <ns0:spPr>
          <ns1:xfrm>
            <ns1:off x="415725" y="616763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72" name="Shape 70"/>
          <ns0:cNvSpPr/>
          <ns0:nvPr/>
        </ns0:nvSpPr>
        <ns0:spPr>
          <ns1:xfrm>
            <ns1:off x="611668" y="485366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73" name="Shape 71"/>
          <ns0:cNvSpPr/>
          <ns0:nvPr/>
        </ns0:nvSpPr>
        <ns0:spPr>
          <ns1:xfrm>
            <ns1:off x="807611" y="364753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74" name="Shape 72"/>
          <ns0:cNvSpPr/>
          <ns0:nvPr/>
        </ns0:nvSpPr>
        <ns0:spPr>
          <ns1:xfrm>
            <ns1:off x="1003554" y="386334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75" name="Shape 73"/>
          <ns0:cNvSpPr/>
          <ns0:nvPr/>
        </ns0:nvSpPr>
        <ns0:spPr>
          <ns1:xfrm>
            <ns1:off x="1199497" y="362922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76" name="Shape 74"/>
          <ns0:cNvSpPr/>
          <ns0:nvPr/>
        </ns0:nvSpPr>
        <ns0:spPr>
          <ns1:xfrm>
            <ns1:off x="1591383" y="359999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77" name="Shape 75"/>
          <ns0:cNvSpPr/>
          <ns0:nvPr/>
        </ns0:nvSpPr>
        <ns0:spPr>
          <ns1:xfrm>
            <ns1:off x="440871" y="384599"/>
            <ns1:ext cx="1175657" cy="257310"/>
          </ns1:xfrm>
          <ns1:custGeom>
            <ns1:avLst/>
            <ns1:gdLst/>
            <ns1:ahLst/>
            <ns1:cxnLst/>
            <ns1:rect l="l" t="t" r="r" b="b"/>
            <ns1:pathLst>
              <ns1:path w="1175657" h="257310">
                <ns1:moveTo>
                  <ns1:pt x="0" y="257310"/>
                </ns1:moveTo>
                <ns1:lnTo>
                  <ns1:pt x="195943" y="125636"/>
                </ns1:lnTo>
                <ns1:lnTo>
                  <ns1:pt x="391886" y="6399"/>
                </ns1:lnTo>
                <ns1:lnTo>
                  <ns1:pt x="587829" y="27981"/>
                </ns1:lnTo>
                <ns1:lnTo>
                  <ns1:pt x="783771" y="3470"/>
                </ns1:lnTo>
                <ns1:lnTo>
                  <ns1:pt x="1175657" y="0"/>
                </ns1:lnTo>
              </ns1:path>
            </ns1:pathLst>
          </ns1:custGeom>
          <ns1:ln w="13970">
            <ns1:solidFill>
              <ns1:srgbClr val="ED7D31"/>
            </ns1:solidFill>
            <ns1:prstDash val="dash"/>
          </ns1:ln>
        </ns0:spPr>
      </ns0:sp>
      <ns0:sp>
        <ns0:nvSpPr>
          <ns0:cNvPr id="78" name="Shape 76"/>
          <ns0:cNvSpPr/>
          <ns0:nvPr/>
        </ns0:nvSpPr>
        <ns0:spPr>
          <ns1:xfrm>
            <ns1:off x="408182" y="609219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79" name="Shape 77"/>
          <ns0:cNvSpPr/>
          <ns0:nvPr/>
        </ns0:nvSpPr>
        <ns0:spPr>
          <ns1:xfrm>
            <ns1:off x="604124" y="477545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80" name="Shape 78"/>
          <ns0:cNvSpPr/>
          <ns0:nvPr/>
        </ns0:nvSpPr>
        <ns0:spPr>
          <ns1:xfrm>
            <ns1:off x="800067" y="358308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81" name="Shape 79"/>
          <ns0:cNvSpPr/>
          <ns0:nvPr/>
        </ns0:nvSpPr>
        <ns0:spPr>
          <ns1:xfrm>
            <ns1:off x="996010" y="379890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82" name="Shape 80"/>
          <ns0:cNvSpPr/>
          <ns0:nvPr/>
        </ns0:nvSpPr>
        <ns0:spPr>
          <ns1:xfrm>
            <ns1:off x="1191953" y="355379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83" name="Shape 81"/>
          <ns0:cNvSpPr/>
          <ns0:nvPr/>
        </ns0:nvSpPr>
        <ns0:spPr>
          <ns1:xfrm>
            <ns1:off x="1583839" y="351909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84" name="Text 82"/>
          <ns0:cNvSpPr txBox="1"/>
          <ns0:nvPr/>
        </ns0:nvSpPr>
        <ns0:spPr>
          <ns1:xfrm>
            <ns1:off x="800100" y="778337"/>
            <ns1:ext cx="886968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630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Full's hold &gt; period</ns1:t>
            </ns1:r>
            <ns1:endParaRPr lang="en-US" sz="630" dirty="0"/>
          </ns1:p>
        </ns0:txBody>
      </ns0:sp>
      <ns0:sp>
        <ns0:nvSpPr>
          <ns0:cNvPr id="85" name="Text 83"/>
          <ns0:cNvSpPr txBox="1"/>
          <ns0:nvPr/>
        </ns0:nvSpPr>
        <ns0:spPr>
          <ns1:xfrm rot="19565934">
            <ns1:off x="308318" y="446181"/>
            <ns1:ext cx="36576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630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offered 4</ns1:t>
            </ns1:r>
            <ns1:pPr algn="ctr" indent="0" marL="0">
              <ns1:buNone/>
            </ns1:pPr>
            <ns1:r>
              <ns1:rPr lang="en-US" sz="630" i="1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λ</ns1:t>
            </ns1:r>
            <ns1:endParaRPr lang="en-US" sz="630" dirty="0"/>
          </ns1:p>
        </ns0:txBody>
      </ns0:sp>
      <ns0:sp>
        <ns0:nvSpPr>
          <ns0:cNvPr id="86" name="Shape 84"/>
          <ns0:cNvSpPr/>
          <ns0:nvPr/>
        </ns0:nvSpPr>
        <ns0:spPr>
          <ns1:xfrm>
            <ns1:off x="342900" y="246888"/>
            <ns1:ext cx="1371600" cy="658368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87" name="Shape 85"/>
          <ns0:cNvSpPr/>
          <ns0:nvPr/>
        </ns0:nvSpPr>
        <ns0:spPr>
          <ns1:xfrm>
            <ns1:off x="315468" y="905256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88" name="Text 86"/>
          <ns0:cNvSpPr txBox="1"/>
          <ns0:nvPr/>
        </ns0:nvSpPr>
        <ns0:spPr>
          <ns1:xfrm>
            <ns1:off x="-68580" y="850392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</ns1:t>
            </ns1:r>
            <ns1:endParaRPr lang="en-US" sz="700" dirty="0"/>
          </ns1:p>
        </ns0:txBody>
      </ns0:sp>
      <ns0:sp>
        <ns0:nvSpPr>
          <ns0:cNvPr id="89" name="Shape 87"/>
          <ns0:cNvSpPr/>
          <ns0:nvPr/>
        </ns0:nvSpPr>
        <ns0:spPr>
          <ns1:xfrm>
            <ns1:off x="315468" y="773582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90" name="Text 88"/>
          <ns0:cNvSpPr txBox="1"/>
          <ns0:nvPr/>
        </ns0:nvSpPr>
        <ns0:spPr>
          <ns1:xfrm>
            <ns1:off x="-68580" y="718718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20</ns1:t>
            </ns1:r>
            <ns1:endParaRPr lang="en-US" sz="700" dirty="0"/>
          </ns1:p>
        </ns0:txBody>
      </ns0:sp>
      <ns0:sp>
        <ns0:nvSpPr>
          <ns0:cNvPr id="91" name="Shape 89"/>
          <ns0:cNvSpPr/>
          <ns0:nvPr/>
        </ns0:nvSpPr>
        <ns0:spPr>
          <ns1:xfrm>
            <ns1:off x="315468" y="641909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92" name="Text 90"/>
          <ns0:cNvSpPr txBox="1"/>
          <ns0:nvPr/>
        </ns0:nvSpPr>
        <ns0:spPr>
          <ns1:xfrm>
            <ns1:off x="-68580" y="587045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40</ns1:t>
            </ns1:r>
            <ns1:endParaRPr lang="en-US" sz="700" dirty="0"/>
          </ns1:p>
        </ns0:txBody>
      </ns0:sp>
      <ns0:sp>
        <ns0:nvSpPr>
          <ns0:cNvPr id="93" name="Shape 91"/>
          <ns0:cNvSpPr/>
          <ns0:nvPr/>
        </ns0:nvSpPr>
        <ns0:spPr>
          <ns1:xfrm>
            <ns1:off x="315468" y="510235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94" name="Text 92"/>
          <ns0:cNvSpPr txBox="1"/>
          <ns0:nvPr/>
        </ns0:nvSpPr>
        <ns0:spPr>
          <ns1:xfrm>
            <ns1:off x="-68580" y="455371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60</ns1:t>
            </ns1:r>
            <ns1:endParaRPr lang="en-US" sz="700" dirty="0"/>
          </ns1:p>
        </ns0:txBody>
      </ns0:sp>
      <ns0:sp>
        <ns0:nvSpPr>
          <ns0:cNvPr id="95" name="Shape 93"/>
          <ns0:cNvSpPr/>
          <ns0:nvPr/>
        </ns0:nvSpPr>
        <ns0:spPr>
          <ns1:xfrm>
            <ns1:off x="315468" y="378562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96" name="Text 94"/>
          <ns0:cNvSpPr txBox="1"/>
          <ns0:nvPr/>
        </ns0:nvSpPr>
        <ns0:spPr>
          <ns1:xfrm>
            <ns1:off x="-68580" y="323698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80</ns1:t>
            </ns1:r>
            <ns1:endParaRPr lang="en-US" sz="700" dirty="0"/>
          </ns1:p>
        </ns0:txBody>
      </ns0:sp>
      <ns0:sp>
        <ns0:nvSpPr>
          <ns0:cNvPr id="97" name="Shape 95"/>
          <ns0:cNvSpPr/>
          <ns0:nvPr/>
        </ns0:nvSpPr>
        <ns0:spPr>
          <ns1:xfrm>
            <ns1:off x="440871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98" name="Text 96"/>
          <ns0:cNvSpPr txBox="1"/>
          <ns0:nvPr/>
        </ns0:nvSpPr>
        <ns0:spPr>
          <ns1:xfrm>
            <ns1:off x="166551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10</ns1:t>
            </ns1:r>
            <ns1:endParaRPr lang="en-US" sz="700" dirty="0"/>
          </ns1:p>
        </ns0:txBody>
      </ns0:sp>
      <ns0:sp>
        <ns0:nvSpPr>
          <ns0:cNvPr id="99" name="Shape 97"/>
          <ns0:cNvSpPr/>
          <ns0:nvPr/>
        </ns0:nvSpPr>
        <ns0:spPr>
          <ns1:xfrm>
            <ns1:off x="636814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00" name="Text 98"/>
          <ns0:cNvSpPr txBox="1"/>
          <ns0:nvPr/>
        </ns0:nvSpPr>
        <ns0:spPr>
          <ns1:xfrm>
            <ns1:off x="362494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15</ns1:t>
            </ns1:r>
            <ns1:endParaRPr lang="en-US" sz="700" dirty="0"/>
          </ns1:p>
        </ns0:txBody>
      </ns0:sp>
      <ns0:sp>
        <ns0:nvSpPr>
          <ns0:cNvPr id="101" name="Shape 99"/>
          <ns0:cNvSpPr/>
          <ns0:nvPr/>
        </ns0:nvSpPr>
        <ns0:spPr>
          <ns1:xfrm>
            <ns1:off x="832757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02" name="Text 100"/>
          <ns0:cNvSpPr txBox="1"/>
          <ns0:nvPr/>
        </ns0:nvSpPr>
        <ns0:spPr>
          <ns1:xfrm>
            <ns1:off x="558437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20</ns1:t>
            </ns1:r>
            <ns1:endParaRPr lang="en-US" sz="700" dirty="0"/>
          </ns1:p>
        </ns0:txBody>
      </ns0:sp>
      <ns0:sp>
        <ns0:nvSpPr>
          <ns0:cNvPr id="103" name="Shape 101"/>
          <ns0:cNvSpPr/>
          <ns0:nvPr/>
        </ns0:nvSpPr>
        <ns0:spPr>
          <ns1:xfrm>
            <ns1:off x="1028700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04" name="Text 102"/>
          <ns0:cNvSpPr txBox="1"/>
          <ns0:nvPr/>
        </ns0:nvSpPr>
        <ns0:spPr>
          <ns1:xfrm>
            <ns1:off x="754380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25</ns1:t>
            </ns1:r>
            <ns1:endParaRPr lang="en-US" sz="700" dirty="0"/>
          </ns1:p>
        </ns0:txBody>
      </ns0:sp>
      <ns0:sp>
        <ns0:nvSpPr>
          <ns0:cNvPr id="105" name="Shape 103"/>
          <ns0:cNvSpPr/>
          <ns0:nvPr/>
        </ns0:nvSpPr>
        <ns0:spPr>
          <ns1:xfrm>
            <ns1:off x="1224643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06" name="Text 104"/>
          <ns0:cNvSpPr txBox="1"/>
          <ns0:nvPr/>
        </ns0:nvSpPr>
        <ns0:spPr>
          <ns1:xfrm>
            <ns1:off x="950323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30</ns1:t>
            </ns1:r>
            <ns1:endParaRPr lang="en-US" sz="700" dirty="0"/>
          </ns1:p>
        </ns0:txBody>
      </ns0:sp>
      <ns0:sp>
        <ns0:nvSpPr>
          <ns0:cNvPr id="107" name="Shape 105"/>
          <ns0:cNvSpPr/>
          <ns0:nvPr/>
        </ns0:nvSpPr>
        <ns0:spPr>
          <ns1:xfrm>
            <ns1:off x="1616529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08" name="Text 106"/>
          <ns0:cNvSpPr txBox="1"/>
          <ns0:nvPr/>
        </ns0:nvSpPr>
        <ns0:spPr>
          <ns1:xfrm>
            <ns1:off x="1342209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40</ns1:t>
            </ns1:r>
            <ns1:endParaRPr lang="en-US" sz="700" dirty="0"/>
          </ns1:p>
        </ns0:txBody>
      </ns0:sp>
      <ns0:sp>
        <ns0:nvSpPr>
          <ns0:cNvPr id="109" name="Text 107"/>
          <ns0:cNvSpPr txBox="1"/>
          <ns0:nvPr/>
        </ns0:nvSpPr>
        <ns0:spPr>
          <ns1:xfrm>
            <ns1:off x="160020" y="1051560"/>
            <ns1:ext cx="1737360" cy="1188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Frame rate (Hz)</ns1:t>
            </ns1:r>
            <ns1:endParaRPr lang="en-US" sz="750" dirty="0"/>
          </ns1:p>
        </ns0:txBody>
      </ns0:sp>
      <ns0:sp>
        <ns0:nvSpPr>
          <ns0:cNvPr id="110" name="Text 108"/>
          <ns0:cNvSpPr txBox="1"/>
          <ns0:nvPr/>
        </ns0:nvSpPr>
        <ns0:spPr>
          <ns1:xfrm rot="16200000">
            <ns1:off x="-470916" y="512064"/>
            <ns1:ext cx="1097280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Timely results/s</ns1:t>
            </ns1:r>
            <ns1:endParaRPr lang="en-US" sz="750" dirty="0"/>
          </ns1:p>
        </ns0:txBody>
      </ns0:sp>
      <ns0:sp>
        <ns0:nvSpPr>
          <ns0:cNvPr id="111" name="Text 109"/>
          <ns0:cNvSpPr txBox="1"/>
          <ns0:nvPr/>
        </ns0:nvSpPr>
        <ns0:spPr>
          <ns1:xfrm>
            <ns1:off x="4572" y="1197864"/>
            <ns1:ext cx="1755648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(a) </ns1:t>
            </ns1:r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Timely results with one slot</ns1:t>
            </ns1:r>
            <ns1:endParaRPr lang="en-US" sz="750" dirty="0"/>
          </ns1:p>
        </ns0:txBody>
      </ns0:sp>
      <ns0:sp>
        <ns0:nvSpPr>
          <ns0:cNvPr id="112" name="Shape 110"/>
          <ns0:cNvSpPr/>
          <ns0:nvPr/>
        </ns0:nvSpPr>
        <ns0:spPr>
          <ns1:xfrm>
            <ns1:off x="2543530" y="246888"/>
            <ns1:ext cx="789458" cy="658368"/>
          </ns1:xfrm>
          <ns1:prstGeom prst="rect">
            <ns1:avLst/>
          </ns1:prstGeom>
          <ns1:solidFill>
            <ns1:srgbClr val="F2F2F2"/>
          </ns1:solidFill>
          <ns1:ln/>
        </ns0:spPr>
      </ns0:sp>
      <ns0:sp>
        <ns0:nvSpPr>
          <ns0:cNvPr id="113" name="Shape 111"/>
          <ns0:cNvSpPr/>
          <ns0:nvPr/>
        </ns0:nvSpPr>
        <ns0:spPr>
          <ns1:xfrm>
            <ns1:off x="2125980" y="758952"/>
            <ns1:ext cx="1207008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14" name="Shape 112"/>
          <ns0:cNvSpPr/>
          <ns0:nvPr/>
        </ns0:nvSpPr>
        <ns0:spPr>
          <ns1:xfrm>
            <ns1:off x="2125980" y="612648"/>
            <ns1:ext cx="1207008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15" name="Shape 113"/>
          <ns0:cNvSpPr/>
          <ns0:nvPr/>
        </ns0:nvSpPr>
        <ns0:spPr>
          <ns1:xfrm>
            <ns1:off x="2125980" y="466344"/>
            <ns1:ext cx="1207008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16" name="Shape 114"/>
          <ns0:cNvSpPr/>
          <ns0:nvPr/>
        </ns0:nvSpPr>
        <ns0:spPr>
          <ns1:xfrm>
            <ns1:off x="2125980" y="320040"/>
            <ns1:ext cx="1207008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17" name="Shape 115"/>
          <ns0:cNvSpPr/>
          <ns0:nvPr/>
        </ns0:nvSpPr>
        <ns0:spPr>
          <ns1:xfrm>
            <ns1:off x="2212195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18" name="Shape 116"/>
          <ns0:cNvSpPr/>
          <ns0:nvPr/>
        </ns0:nvSpPr>
        <ns0:spPr>
          <ns1:xfrm>
            <ns1:off x="2384625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19" name="Shape 117"/>
          <ns0:cNvSpPr/>
          <ns0:nvPr/>
        </ns0:nvSpPr>
        <ns0:spPr>
          <ns1:xfrm>
            <ns1:off x="2557054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20" name="Shape 118"/>
          <ns0:cNvSpPr/>
          <ns0:nvPr/>
        </ns0:nvSpPr>
        <ns0:spPr>
          <ns1:xfrm>
            <ns1:off x="2729484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21" name="Shape 119"/>
          <ns0:cNvSpPr/>
          <ns0:nvPr/>
        </ns0:nvSpPr>
        <ns0:spPr>
          <ns1:xfrm>
            <ns1:off x="2901914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22" name="Shape 120"/>
          <ns0:cNvSpPr/>
          <ns0:nvPr/>
        </ns0:nvSpPr>
        <ns0:spPr>
          <ns1:xfrm>
            <ns1:off x="3246773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23" name="Shape 121"/>
          <ns0:cNvSpPr/>
          <ns0:nvPr/>
        </ns0:nvSpPr>
        <ns0:spPr>
          <ns1:xfrm>
            <ns1:off x="2125980" y="320040"/>
            <ns1:ext cx="1207008" cy="0"/>
          </ns1:xfrm>
          <ns1:prstGeom prst="line">
            <ns1:avLst/>
          </ns1:prstGeom>
          <ns1:noFill/>
          <ns1:ln w="8890">
            <ns1:solidFill>
              <ns1:srgbClr val="000000"/>
            </ns1:solidFill>
            <ns1:prstDash val="lgDashDot"/>
          </ns1:ln>
        </ns0:spPr>
      </ns0:sp>
      <ns0:sp>
        <ns0:nvSpPr>
          <ns0:cNvPr id="124" name="Text 122"/>
          <ns0:cNvSpPr txBox="1"/>
          <ns0:nvPr/>
        </ns0:nvSpPr>
        <ns0:spPr>
          <ns1:xfrm>
            <ns1:off x="2153569" y="331013"/>
            <ns1:ext cx="45720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3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deadline</ns1:t>
            </ns1:r>
            <ns1:endParaRPr lang="en-US" sz="630" dirty="0"/>
          </ns1:p>
        </ns0:txBody>
      </ns0:sp>
      <ns0:sp>
        <ns0:nvSpPr>
          <ns0:cNvPr id="125" name="Shape 123"/>
          <ns0:cNvSpPr/>
          <ns0:nvPr/>
        </ns0:nvSpPr>
        <ns0:spPr>
          <ns1:xfrm>
            <ns1:off x="2212195" y="420097"/>
            <ns1:ext cx="1034578" cy="139289"/>
          </ns1:xfrm>
          <ns1:custGeom>
            <ns1:avLst/>
            <ns1:gdLst/>
            <ns1:ahLst/>
            <ns1:cxnLst/>
            <ns1:rect l="l" t="t" r="r" b="b"/>
            <ns1:pathLst>
              <ns1:path w="1034578" h="139289">
                <ns1:moveTo>
                  <ns1:pt x="0" y="137314"/>
                </ns1:moveTo>
                <ns1:lnTo>
                  <ns1:pt x="172430" y="139289"/>
                </ns1:lnTo>
                <ns1:lnTo>
                  <ns1:pt x="344859" y="24126"/>
                </ns1:lnTo>
                <ns1:lnTo>
                  <ns1:pt x="517289" y="29524"/>
                </ns1:lnTo>
                <ns1:lnTo>
                  <ns1:pt x="689719" y="0"/>
                </ns1:lnTo>
                <ns1:lnTo>
                  <ns1:pt x="1034578" y="8361"/>
                </ns1:lnTo>
              </ns1:path>
            </ns1:pathLst>
          </ns1:custGeom>
          <ns1:ln w="11430">
            <ns1:solidFill>
              <ns1:srgbClr val="4472C4"/>
            </ns1:solidFill>
            <ns1:prstDash val="sysDot"/>
          </ns1:ln>
        </ns0:spPr>
      </ns0:sp>
      <ns0:sp>
        <ns0:nvSpPr>
          <ns0:cNvPr id="126" name="Shape 124"/>
          <ns0:cNvSpPr/>
          <ns0:nvPr/>
        </ns0:nvSpPr>
        <ns0:spPr>
          <ns1:xfrm>
            <ns1:off x="2187049" y="532265"/>
            <ns1:ext cx="50292" cy="50292"/>
          </ns1:xfrm>
          <ns1:prstGeom prst="ellipse">
            <ns1:avLst/>
          </ns1:prstGeom>
          <ns1:solidFill>
            <ns1:srgbClr val="FFFFFF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127" name="Shape 125"/>
          <ns0:cNvSpPr/>
          <ns0:nvPr/>
        </ns0:nvSpPr>
        <ns0:spPr>
          <ns1:xfrm>
            <ns1:off x="2359479" y="534240"/>
            <ns1:ext cx="50292" cy="50292"/>
          </ns1:xfrm>
          <ns1:prstGeom prst="ellipse">
            <ns1:avLst/>
          </ns1:prstGeom>
          <ns1:solidFill>
            <ns1:srgbClr val="FFFFFF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128" name="Shape 126"/>
          <ns0:cNvSpPr/>
          <ns0:nvPr/>
        </ns0:nvSpPr>
        <ns0:spPr>
          <ns1:xfrm>
            <ns1:off x="2531908" y="419077"/>
            <ns1:ext cx="50292" cy="50292"/>
          </ns1:xfrm>
          <ns1:prstGeom prst="ellipse">
            <ns1:avLst/>
          </ns1:prstGeom>
          <ns1:solidFill>
            <ns1:srgbClr val="FFFFFF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129" name="Shape 127"/>
          <ns0:cNvSpPr/>
          <ns0:nvPr/>
        </ns0:nvSpPr>
        <ns0:spPr>
          <ns1:xfrm>
            <ns1:off x="2704338" y="424475"/>
            <ns1:ext cx="50292" cy="50292"/>
          </ns1:xfrm>
          <ns1:prstGeom prst="ellipse">
            <ns1:avLst/>
          </ns1:prstGeom>
          <ns1:solidFill>
            <ns1:srgbClr val="FFFFFF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130" name="Shape 128"/>
          <ns0:cNvSpPr/>
          <ns0:nvPr/>
        </ns0:nvSpPr>
        <ns0:spPr>
          <ns1:xfrm>
            <ns1:off x="2876768" y="394951"/>
            <ns1:ext cx="50292" cy="50292"/>
          </ns1:xfrm>
          <ns1:prstGeom prst="ellipse">
            <ns1:avLst/>
          </ns1:prstGeom>
          <ns1:solidFill>
            <ns1:srgbClr val="FFFFFF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131" name="Shape 129"/>
          <ns0:cNvSpPr/>
          <ns0:nvPr/>
        </ns0:nvSpPr>
        <ns0:spPr>
          <ns1:xfrm>
            <ns1:off x="3221627" y="403313"/>
            <ns1:ext cx="50292" cy="50292"/>
          </ns1:xfrm>
          <ns1:prstGeom prst="ellipse">
            <ns1:avLst/>
          </ns1:prstGeom>
          <ns1:solidFill>
            <ns1:srgbClr val="FFFFFF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132" name="Shape 130"/>
          <ns0:cNvSpPr/>
          <ns0:nvPr/>
        </ns0:nvSpPr>
        <ns0:spPr>
          <ns1:xfrm>
            <ns1:off x="2212195" y="624850"/>
            <ns1:ext cx="1034578" cy="4075"/>
          </ns1:xfrm>
          <ns1:custGeom>
            <ns1:avLst/>
            <ns1:gdLst/>
            <ns1:ahLst/>
            <ns1:cxnLst/>
            <ns1:rect l="l" t="t" r="r" b="b"/>
            <ns1:pathLst>
              <ns1:path w="1034578" h="4075">
                <ns1:moveTo>
                  <ns1:pt x="0" y="0"/>
                </ns1:moveTo>
                <ns1:lnTo>
                  <ns1:pt x="172430" y="1558"/>
                </ns1:lnTo>
                <ns1:lnTo>
                  <ns1:pt x="344859" y="37"/>
                </ns1:lnTo>
                <ns1:lnTo>
                  <ns1:pt x="517289" y="1361"/>
                </ns1:lnTo>
                <ns1:lnTo>
                  <ns1:pt x="689719" y="4075"/>
                </ns1:lnTo>
                <ns1:lnTo>
                  <ns1:pt x="1034578" y="1931"/>
                </ns1:lnTo>
              </ns1:path>
            </ns1:pathLst>
          </ns1:custGeom>
          <ns1:ln w="13970">
            <ns1:solidFill>
              <ns1:srgbClr val="7F7F7F"/>
            </ns1:solidFill>
            <ns1:prstDash val="solid"/>
          </ns1:ln>
        </ns0:spPr>
      </ns0:sp>
      <ns0:sp>
        <ns0:nvSpPr>
          <ns0:cNvPr id="133" name="Shape 131"/>
          <ns0:cNvSpPr/>
          <ns0:nvPr/>
        </ns0:nvSpPr>
        <ns0:spPr>
          <ns1:xfrm>
            <ns1:off x="2189563" y="602218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134" name="Shape 132"/>
          <ns0:cNvSpPr/>
          <ns0:nvPr/>
        </ns0:nvSpPr>
        <ns0:spPr>
          <ns1:xfrm>
            <ns1:off x="2361993" y="603776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135" name="Shape 133"/>
          <ns0:cNvSpPr/>
          <ns0:nvPr/>
        </ns0:nvSpPr>
        <ns0:spPr>
          <ns1:xfrm>
            <ns1:off x="2534423" y="602255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136" name="Shape 134"/>
          <ns0:cNvSpPr/>
          <ns0:nvPr/>
        </ns0:nvSpPr>
        <ns0:spPr>
          <ns1:xfrm>
            <ns1:off x="2706853" y="603579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137" name="Shape 135"/>
          <ns0:cNvSpPr/>
          <ns0:nvPr/>
        </ns0:nvSpPr>
        <ns0:spPr>
          <ns1:xfrm>
            <ns1:off x="2879282" y="606293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138" name="Shape 136"/>
          <ns0:cNvSpPr/>
          <ns0:nvPr/>
        </ns0:nvSpPr>
        <ns0:spPr>
          <ns1:xfrm>
            <ns1:off x="3224142" y="604150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139" name="Shape 137"/>
          <ns0:cNvSpPr/>
          <ns0:nvPr/>
        </ns0:nvSpPr>
        <ns0:spPr>
          <ns1:xfrm>
            <ns1:off x="2212195" y="536394"/>
            <ns1:ext cx="1034578" cy="94900"/>
          </ns1:xfrm>
          <ns1:custGeom>
            <ns1:avLst/>
            <ns1:gdLst/>
            <ns1:ahLst/>
            <ns1:cxnLst/>
            <ns1:rect l="l" t="t" r="r" b="b"/>
            <ns1:pathLst>
              <ns1:path w="1034578" h="94900">
                <ns1:moveTo>
                  <ns1:pt x="0" y="89216"/>
                </ns1:moveTo>
                <ns1:lnTo>
                  <ns1:pt x="172430" y="94900"/>
                </ns1:lnTo>
                <ns1:lnTo>
                  <ns1:pt x="344859" y="18332"/>
                </ns1:lnTo>
                <ns1:lnTo>
                  <ns1:pt x="517289" y="27703"/>
                </ns1:lnTo>
                <ns1:lnTo>
                  <ns1:pt x="689719" y="13818"/>
                </ns1:lnTo>
                <ns1:lnTo>
                  <ns1:pt x="1034578" y="0"/>
                </ns1:lnTo>
              </ns1:path>
            </ns1:pathLst>
          </ns1:custGeom>
          <ns1:ln w="13970">
            <ns1:solidFill>
              <ns1:srgbClr val="ED7D31"/>
            </ns1:solidFill>
            <ns1:prstDash val="dash"/>
          </ns1:ln>
        </ns0:spPr>
      </ns0:sp>
      <ns0:sp>
        <ns0:nvSpPr>
          <ns0:cNvPr id="140" name="Shape 138"/>
          <ns0:cNvSpPr/>
          <ns0:nvPr/>
        </ns0:nvSpPr>
        <ns0:spPr>
          <ns1:xfrm>
            <ns1:off x="2179505" y="592921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141" name="Shape 139"/>
          <ns0:cNvSpPr/>
          <ns0:nvPr/>
        </ns0:nvSpPr>
        <ns0:spPr>
          <ns1:xfrm>
            <ns1:off x="2351935" y="598605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142" name="Shape 140"/>
          <ns0:cNvSpPr/>
          <ns0:nvPr/>
        </ns0:nvSpPr>
        <ns0:spPr>
          <ns1:xfrm>
            <ns1:off x="2524364" y="522036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143" name="Shape 141"/>
          <ns0:cNvSpPr/>
          <ns0:nvPr/>
        </ns0:nvSpPr>
        <ns0:spPr>
          <ns1:xfrm>
            <ns1:off x="2696794" y="531407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144" name="Shape 142"/>
          <ns0:cNvSpPr/>
          <ns0:nvPr/>
        </ns0:nvSpPr>
        <ns0:spPr>
          <ns1:xfrm>
            <ns1:off x="2869224" y="517523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145" name="Shape 143"/>
          <ns0:cNvSpPr/>
          <ns0:nvPr/>
        </ns0:nvSpPr>
        <ns0:spPr>
          <ns1:xfrm>
            <ns1:off x="3214083" y="503705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146" name="Shape 144"/>
          <ns0:cNvSpPr/>
          <ns0:nvPr/>
        </ns0:nvSpPr>
        <ns0:spPr>
          <ns1:xfrm>
            <ns1:off x="2212195" y="543088"/>
            <ns1:ext cx="1034578" cy="85698"/>
          </ns1:xfrm>
          <ns1:custGeom>
            <ns1:avLst/>
            <ns1:gdLst/>
            <ns1:ahLst/>
            <ns1:cxnLst/>
            <ns1:rect l="l" t="t" r="r" b="b"/>
            <ns1:pathLst>
              <ns1:path w="1034578" h="85698">
                <ns1:moveTo>
                  <ns1:pt x="0" y="81338"/>
                </ns1:moveTo>
                <ns1:lnTo>
                  <ns1:pt x="172430" y="85698"/>
                </ns1:lnTo>
                <ns1:lnTo>
                  <ns1:pt x="344859" y="15325"/>
                </ns1:lnTo>
                <ns1:lnTo>
                  <ns1:pt x="517289" y="25274"/>
                </ns1:lnTo>
                <ns1:lnTo>
                  <ns1:pt x="689719" y="6481"/>
                </ns1:lnTo>
                <ns1:lnTo>
                  <ns1:pt x="1034578" y="0"/>
                </ns1:lnTo>
              </ns1:path>
            </ns1:pathLst>
          </ns1:custGeom>
          <ns1:ln w="16510">
            <ns1:solidFill>
              <ns1:srgbClr val="4472C4"/>
            </ns1:solidFill>
            <ns1:prstDash val="solid"/>
          </ns1:ln>
        </ns0:spPr>
      </ns0:sp>
      <ns0:sp>
        <ns0:nvSpPr>
          <ns0:cNvPr id="147" name="Shape 145"/>
          <ns0:cNvSpPr/>
          <ns0:nvPr/>
        </ns0:nvSpPr>
        <ns0:spPr>
          <ns1:xfrm>
            <ns1:off x="2187049" y="599279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148" name="Shape 146"/>
          <ns0:cNvSpPr/>
          <ns0:nvPr/>
        </ns0:nvSpPr>
        <ns0:spPr>
          <ns1:xfrm>
            <ns1:off x="2359479" y="603639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149" name="Shape 147"/>
          <ns0:cNvSpPr/>
          <ns0:nvPr/>
        </ns0:nvSpPr>
        <ns0:spPr>
          <ns1:xfrm>
            <ns1:off x="2531908" y="533267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150" name="Shape 148"/>
          <ns0:cNvSpPr/>
          <ns0:nvPr/>
        </ns0:nvSpPr>
        <ns0:spPr>
          <ns1:xfrm>
            <ns1:off x="2704338" y="543216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151" name="Shape 149"/>
          <ns0:cNvSpPr/>
          <ns0:nvPr/>
        </ns0:nvSpPr>
        <ns0:spPr>
          <ns1:xfrm>
            <ns1:off x="2876768" y="524423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152" name="Shape 150"/>
          <ns0:cNvSpPr/>
          <ns0:nvPr/>
        </ns0:nvSpPr>
        <ns0:spPr>
          <ns1:xfrm>
            <ns1:off x="3221627" y="517942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153" name="Shape 151"/>
          <ns0:cNvSpPr/>
          <ns0:nvPr/>
        </ns0:nvSpPr>
        <ns0:spPr>
          <ns1:xfrm>
            <ns1:off x="2188172" y="722376"/>
            <ns1:ext cx="1117384" cy="155448"/>
          </ns1:xfrm>
          <ns1:prstGeom prst="rect">
            <ns1:avLst/>
          </ns1:prstGeom>
          <ns1:solidFill>
            <ns1:srgbClr val="FFFFFF"/>
          </ns1:solidFill>
          <ns1:ln w="6350">
            <ns1:solidFill>
              <ns1:srgbClr val="A6A6A6"/>
            </ns1:solidFill>
            <ns1:prstDash val="solid"/>
          </ns1:ln>
        </ns0:spPr>
      </ns0:sp>
      <ns0:sp>
        <ns0:nvSpPr>
          <ns0:cNvPr id="154" name="Shape 152"/>
          <ns0:cNvSpPr/>
          <ns0:nvPr/>
        </ns0:nvSpPr>
        <ns0:spPr>
          <ns1:xfrm>
            <ns1:off x="2220176" y="800100"/>
            <ns1:ext cx="155448" cy="914"/>
          </ns1:xfrm>
          <ns1:custGeom>
            <ns1:avLst/>
            <ns1:gdLst/>
            <ns1:ahLst/>
            <ns1:cxnLst/>
            <ns1:rect l="l" t="t" r="r" b="b"/>
            <ns1:pathLst>
              <ns1:path w="155448" h="914">
                <ns1:moveTo>
                  <ns1:pt x="0" y="0"/>
                </ns1:moveTo>
                <ns1:lnTo>
                  <ns1:pt x="155448" y="0"/>
                </ns1:lnTo>
              </ns1:path>
            </ns1:pathLst>
          </ns1:custGeom>
          <ns1:ln w="13970">
            <ns1:solidFill>
              <ns1:srgbClr val="404040"/>
            </ns1:solidFill>
            <ns1:prstDash val="solid"/>
          </ns1:ln>
        </ns0:spPr>
      </ns0:sp>
      <ns0:sp>
        <ns0:nvSpPr>
          <ns0:cNvPr id="155" name="Shape 153"/>
          <ns0:cNvSpPr/>
          <ns0:nvPr/>
        </ns0:nvSpPr>
        <ns0:spPr>
          <ns1:xfrm>
            <ns1:off x="2275040" y="777240"/>
            <ns1:ext cx="45720" cy="45720"/>
          </ns1:xfrm>
          <ns1:prstGeom prst="ellipse">
            <ns1:avLst/>
          </ns1:prstGeom>
          <ns1:solidFill>
            <ns1:srgbClr val="404040"/>
          </ns1:solidFill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56" name="Text 154"/>
          <ns0:cNvSpPr txBox="1"/>
          <ns0:nvPr/>
        </ns0:nvSpPr>
        <ns0:spPr>
          <ns1:xfrm>
            <ns1:off x="2412200" y="745236"/>
            <ns1:ext cx="223963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1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mean</ns1:t>
            </ns1:r>
            <ns1:endParaRPr lang="en-US" sz="610" dirty="0"/>
          </ns1:p>
        </ns0:txBody>
      </ns0:sp>
      <ns0:sp>
        <ns0:nvSpPr>
          <ns0:cNvPr id="157" name="Shape 155"/>
          <ns0:cNvSpPr/>
          <ns0:nvPr/>
        </ns0:nvSpPr>
        <ns0:spPr>
          <ns1:xfrm>
            <ns1:off x="2654451" y="800100"/>
            <ns1:ext cx="155448" cy="914"/>
          </ns1:xfrm>
          <ns1:custGeom>
            <ns1:avLst/>
            <ns1:gdLst/>
            <ns1:ahLst/>
            <ns1:cxnLst/>
            <ns1:rect l="l" t="t" r="r" b="b"/>
            <ns1:pathLst>
              <ns1:path w="155448" h="914">
                <ns1:moveTo>
                  <ns1:pt x="0" y="0"/>
                </ns1:moveTo>
                <ns1:lnTo>
                  <ns1:pt x="155448" y="0"/>
                </ns1:lnTo>
              </ns1:path>
            </ns1:pathLst>
          </ns1:custGeom>
          <ns1:ln w="11430">
            <ns1:solidFill>
              <ns1:srgbClr val="4472C4"/>
            </ns1:solidFill>
            <ns1:prstDash val="sysDot"/>
          </ns1:ln>
        </ns0:spPr>
      </ns0:sp>
      <ns0:sp>
        <ns0:nvSpPr>
          <ns0:cNvPr id="158" name="Shape 156"/>
          <ns0:cNvSpPr/>
          <ns0:nvPr/>
        </ns0:nvSpPr>
        <ns0:spPr>
          <ns1:xfrm>
            <ns1:off x="2709315" y="777240"/>
            <ns1:ext cx="45720" cy="45720"/>
          </ns1:xfrm>
          <ns1:prstGeom prst="ellipse">
            <ns1:avLst/>
          </ns1:prstGeom>
          <ns1:solidFill>
            <ns1:srgbClr val="FFFFFF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159" name="Text 157"/>
          <ns0:cNvSpPr txBox="1"/>
          <ns0:nvPr/>
        </ns0:nvSpPr>
        <ns0:spPr>
          <ns1:xfrm>
            <ns1:off x="2846475" y="745236"/>
            <ns1:ext cx="472797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indent="0" marL="0">
              <ns1:buNone/>
            </ns1:pPr>
            <ns1:r>
              <ns1:rPr lang="en-US" sz="61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BIM 95th pct.</ns1:t>
            </ns1:r>
            <ns1:endParaRPr lang="en-US" sz="610" dirty="0"/>
          </ns1:p>
        </ns0:txBody>
      </ns0:sp>
      <ns0:sp>
        <ns0:nvSpPr>
          <ns0:cNvPr id="160" name="Shape 158"/>
          <ns0:cNvSpPr/>
          <ns0:nvPr/>
        </ns0:nvSpPr>
        <ns0:spPr>
          <ns1:xfrm>
            <ns1:off x="2125980" y="246888"/>
            <ns1:ext cx="1207008" cy="658368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61" name="Shape 159"/>
          <ns0:cNvSpPr/>
          <ns0:nvPr/>
        </ns0:nvSpPr>
        <ns0:spPr>
          <ns1:xfrm>
            <ns1:off x="2098548" y="905256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62" name="Text 160"/>
          <ns0:cNvSpPr txBox="1"/>
          <ns0:nvPr/>
        </ns0:nvSpPr>
        <ns0:spPr>
          <ns1:xfrm>
            <ns1:off x="1714500" y="850392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20</ns1:t>
            </ns1:r>
            <ns1:endParaRPr lang="en-US" sz="700" dirty="0"/>
          </ns1:p>
        </ns0:txBody>
      </ns0:sp>
      <ns0:sp>
        <ns0:nvSpPr>
          <ns0:cNvPr id="163" name="Shape 161"/>
          <ns0:cNvSpPr/>
          <ns0:nvPr/>
        </ns0:nvSpPr>
        <ns0:spPr>
          <ns1:xfrm>
            <ns1:off x="2098548" y="758952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64" name="Text 162"/>
          <ns0:cNvSpPr txBox="1"/>
          <ns0:nvPr/>
        </ns0:nvSpPr>
        <ns0:spPr>
          <ns1:xfrm>
            <ns1:off x="1714500" y="704088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40</ns1:t>
            </ns1:r>
            <ns1:endParaRPr lang="en-US" sz="700" dirty="0"/>
          </ns1:p>
        </ns0:txBody>
      </ns0:sp>
      <ns0:sp>
        <ns0:nvSpPr>
          <ns0:cNvPr id="165" name="Shape 163"/>
          <ns0:cNvSpPr/>
          <ns0:nvPr/>
        </ns0:nvSpPr>
        <ns0:spPr>
          <ns1:xfrm>
            <ns1:off x="2098548" y="612648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66" name="Text 164"/>
          <ns0:cNvSpPr txBox="1"/>
          <ns0:nvPr/>
        </ns0:nvSpPr>
        <ns0:spPr>
          <ns1:xfrm>
            <ns1:off x="1714500" y="557784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60</ns1:t>
            </ns1:r>
            <ns1:endParaRPr lang="en-US" sz="700" dirty="0"/>
          </ns1:p>
        </ns0:txBody>
      </ns0:sp>
      <ns0:sp>
        <ns0:nvSpPr>
          <ns0:cNvPr id="167" name="Shape 165"/>
          <ns0:cNvSpPr/>
          <ns0:nvPr/>
        </ns0:nvSpPr>
        <ns0:spPr>
          <ns1:xfrm>
            <ns1:off x="2098548" y="466344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68" name="Text 166"/>
          <ns0:cNvSpPr txBox="1"/>
          <ns0:nvPr/>
        </ns0:nvSpPr>
        <ns0:spPr>
          <ns1:xfrm>
            <ns1:off x="1714500" y="411480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80</ns1:t>
            </ns1:r>
            <ns1:endParaRPr lang="en-US" sz="700" dirty="0"/>
          </ns1:p>
        </ns0:txBody>
      </ns0:sp>
      <ns0:sp>
        <ns0:nvSpPr>
          <ns0:cNvPr id="169" name="Shape 167"/>
          <ns0:cNvSpPr/>
          <ns0:nvPr/>
        </ns0:nvSpPr>
        <ns0:spPr>
          <ns1:xfrm>
            <ns1:off x="2098548" y="320040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70" name="Text 168"/>
          <ns0:cNvSpPr txBox="1"/>
          <ns0:nvPr/>
        </ns0:nvSpPr>
        <ns0:spPr>
          <ns1:xfrm>
            <ns1:off x="1714500" y="265176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100</ns1:t>
            </ns1:r>
            <ns1:endParaRPr lang="en-US" sz="700" dirty="0"/>
          </ns1:p>
        </ns0:txBody>
      </ns0:sp>
      <ns0:sp>
        <ns0:nvSpPr>
          <ns0:cNvPr id="171" name="Shape 169"/>
          <ns0:cNvSpPr/>
          <ns0:nvPr/>
        </ns0:nvSpPr>
        <ns0:spPr>
          <ns1:xfrm>
            <ns1:off x="2212195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72" name="Text 170"/>
          <ns0:cNvSpPr txBox="1"/>
          <ns0:nvPr/>
        </ns0:nvSpPr>
        <ns0:spPr>
          <ns1:xfrm>
            <ns1:off x="1937875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10</ns1:t>
            </ns1:r>
            <ns1:endParaRPr lang="en-US" sz="700" dirty="0"/>
          </ns1:p>
        </ns0:txBody>
      </ns0:sp>
      <ns0:sp>
        <ns0:nvSpPr>
          <ns0:cNvPr id="173" name="Shape 171"/>
          <ns0:cNvSpPr/>
          <ns0:nvPr/>
        </ns0:nvSpPr>
        <ns0:spPr>
          <ns1:xfrm>
            <ns1:off x="2384625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74" name="Text 172"/>
          <ns0:cNvSpPr txBox="1"/>
          <ns0:nvPr/>
        </ns0:nvSpPr>
        <ns0:spPr>
          <ns1:xfrm>
            <ns1:off x="2110305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15</ns1:t>
            </ns1:r>
            <ns1:endParaRPr lang="en-US" sz="700" dirty="0"/>
          </ns1:p>
        </ns0:txBody>
      </ns0:sp>
      <ns0:sp>
        <ns0:nvSpPr>
          <ns0:cNvPr id="175" name="Shape 173"/>
          <ns0:cNvSpPr/>
          <ns0:nvPr/>
        </ns0:nvSpPr>
        <ns0:spPr>
          <ns1:xfrm>
            <ns1:off x="2557054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76" name="Text 174"/>
          <ns0:cNvSpPr txBox="1"/>
          <ns0:nvPr/>
        </ns0:nvSpPr>
        <ns0:spPr>
          <ns1:xfrm>
            <ns1:off x="2282734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20</ns1:t>
            </ns1:r>
            <ns1:endParaRPr lang="en-US" sz="700" dirty="0"/>
          </ns1:p>
        </ns0:txBody>
      </ns0:sp>
      <ns0:sp>
        <ns0:nvSpPr>
          <ns0:cNvPr id="177" name="Shape 175"/>
          <ns0:cNvSpPr/>
          <ns0:nvPr/>
        </ns0:nvSpPr>
        <ns0:spPr>
          <ns1:xfrm>
            <ns1:off x="2729484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78" name="Text 176"/>
          <ns0:cNvSpPr txBox="1"/>
          <ns0:nvPr/>
        </ns0:nvSpPr>
        <ns0:spPr>
          <ns1:xfrm>
            <ns1:off x="2455164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25</ns1:t>
            </ns1:r>
            <ns1:endParaRPr lang="en-US" sz="700" dirty="0"/>
          </ns1:p>
        </ns0:txBody>
      </ns0:sp>
      <ns0:sp>
        <ns0:nvSpPr>
          <ns0:cNvPr id="179" name="Shape 177"/>
          <ns0:cNvSpPr/>
          <ns0:nvPr/>
        </ns0:nvSpPr>
        <ns0:spPr>
          <ns1:xfrm>
            <ns1:off x="2901914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80" name="Text 178"/>
          <ns0:cNvSpPr txBox="1"/>
          <ns0:nvPr/>
        </ns0:nvSpPr>
        <ns0:spPr>
          <ns1:xfrm>
            <ns1:off x="2627594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30</ns1:t>
            </ns1:r>
            <ns1:endParaRPr lang="en-US" sz="700" dirty="0"/>
          </ns1:p>
        </ns0:txBody>
      </ns0:sp>
      <ns0:sp>
        <ns0:nvSpPr>
          <ns0:cNvPr id="181" name="Shape 179"/>
          <ns0:cNvSpPr/>
          <ns0:nvPr/>
        </ns0:nvSpPr>
        <ns0:spPr>
          <ns1:xfrm>
            <ns1:off x="3246773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182" name="Text 180"/>
          <ns0:cNvSpPr txBox="1"/>
          <ns0:nvPr/>
        </ns0:nvSpPr>
        <ns0:spPr>
          <ns1:xfrm>
            <ns1:off x="2972453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40</ns1:t>
            </ns1:r>
            <ns1:endParaRPr lang="en-US" sz="700" dirty="0"/>
          </ns1:p>
        </ns0:txBody>
      </ns0:sp>
      <ns0:sp>
        <ns0:nvSpPr>
          <ns0:cNvPr id="183" name="Text 181"/>
          <ns0:cNvSpPr txBox="1"/>
          <ns0:nvPr/>
        </ns0:nvSpPr>
        <ns0:spPr>
          <ns1:xfrm>
            <ns1:off x="1943100" y="1051560"/>
            <ns1:ext cx="1572768" cy="1188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Frame rate (Hz)</ns1:t>
            </ns1:r>
            <ns1:endParaRPr lang="en-US" sz="750" dirty="0"/>
          </ns1:p>
        </ns0:txBody>
      </ns0:sp>
      <ns0:sp>
        <ns0:nvSpPr>
          <ns0:cNvPr id="184" name="Text 182"/>
          <ns0:cNvSpPr txBox="1"/>
          <ns0:nvPr/>
        </ns0:nvSpPr>
        <ns0:spPr>
          <ns1:xfrm rot="16200000">
            <ns1:off x="1312164" y="547949"/>
            <ns1:ext cx="1097280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Receipt latency (ms)</ns1:t>
            </ns1:r>
            <ns1:endParaRPr lang="en-US" sz="750" dirty="0"/>
          </ns1:p>
        </ns0:txBody>
      </ns0:sp>
      <ns0:sp>
        <ns0:nvSpPr>
          <ns0:cNvPr id="185" name="Text 183"/>
          <ns0:cNvSpPr txBox="1"/>
          <ns0:nvPr/>
        </ns0:nvSpPr>
        <ns0:spPr>
          <ns1:xfrm>
            <ns1:off x="1787652" y="1197864"/>
            <ns1:ext cx="1591056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(b) </ns1:t>
            </ns1:r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Receipt latency</ns1:t>
            </ns1:r>
            <ns1:endParaRPr lang="en-US" sz="750" dirty="0"/>
          </ns1:p>
        </ns0:txBody>
      </ns0:sp>
      <ns0:sp>
        <ns0:nvSpPr>
          <ns0:cNvPr id="186" name="Shape 184"/>
          <ns0:cNvSpPr/>
          <ns0:nvPr/>
        </ns0:nvSpPr>
        <ns0:spPr>
          <ns1:xfrm>
            <ns1:off x="3744468" y="246888"/>
            <ns1:ext cx="1207008" cy="451821"/>
          </ns1:xfrm>
          <ns1:custGeom>
            <ns1:avLst/>
            <ns1:gdLst/>
            <ns1:ahLst/>
            <ns1:cxnLst/>
            <ns1:rect l="l" t="t" r="r" b="b"/>
            <ns1:pathLst>
              <ns1:path w="1207008" h="451821">
                <ns1:moveTo>
                  <ns1:pt x="0" y="0"/>
                </ns1:moveTo>
                <ns1:lnTo>
                  <ns1:pt x="10058" y="0"/>
                </ns1:lnTo>
                <ns1:lnTo>
                  <ns1:pt x="20117" y="0"/>
                </ns1:lnTo>
                <ns1:lnTo>
                  <ns1:pt x="30175" y="0"/>
                </ns1:lnTo>
                <ns1:lnTo>
                  <ns1:pt x="40234" y="0"/>
                </ns1:lnTo>
                <ns1:lnTo>
                  <ns1:pt x="50292" y="0"/>
                </ns1:lnTo>
                <ns1:lnTo>
                  <ns1:pt x="60350" y="0"/>
                </ns1:lnTo>
                <ns1:lnTo>
                  <ns1:pt x="70409" y="0"/>
                </ns1:lnTo>
                <ns1:lnTo>
                  <ns1:pt x="80467" y="0"/>
                </ns1:lnTo>
                <ns1:lnTo>
                  <ns1:pt x="90526" y="0"/>
                </ns1:lnTo>
                <ns1:lnTo>
                  <ns1:pt x="100584" y="0"/>
                </ns1:lnTo>
                <ns1:lnTo>
                  <ns1:pt x="110642" y="0"/>
                </ns1:lnTo>
                <ns1:lnTo>
                  <ns1:pt x="120701" y="0"/>
                </ns1:lnTo>
                <ns1:lnTo>
                  <ns1:pt x="130759" y="0"/>
                </ns1:lnTo>
                <ns1:lnTo>
                  <ns1:pt x="140818" y="0"/>
                </ns1:lnTo>
                <ns1:lnTo>
                  <ns1:pt x="150876" y="0"/>
                </ns1:lnTo>
                <ns1:lnTo>
                  <ns1:pt x="160934" y="0"/>
                </ns1:lnTo>
                <ns1:lnTo>
                  <ns1:pt x="170993" y="0"/>
                </ns1:lnTo>
                <ns1:lnTo>
                  <ns1:pt x="181051" y="0"/>
                </ns1:lnTo>
                <ns1:lnTo>
                  <ns1:pt x="191110" y="0"/>
                </ns1:lnTo>
                <ns1:lnTo>
                  <ns1:pt x="201168" y="0"/>
                </ns1:lnTo>
                <ns1:lnTo>
                  <ns1:pt x="211226" y="14094"/>
                </ns1:lnTo>
                <ns1:lnTo>
                  <ns1:pt x="221285" y="27596"/>
                </ns1:lnTo>
                <ns1:lnTo>
                  <ns1:pt x="231343" y="40545"/>
                </ns1:lnTo>
                <ns1:lnTo>
                  <ns1:pt x="241402" y="52972"/>
                </ns1:lnTo>
                <ns1:lnTo>
                  <ns1:pt x="251460" y="64910"/>
                </ns1:lnTo>
                <ns1:lnTo>
                  <ns1:pt x="261518" y="76385"/>
                </ns1:lnTo>
                <ns1:lnTo>
                  <ns1:pt x="271577" y="87426"/>
                </ns1:lnTo>
                <ns1:lnTo>
                  <ns1:pt x="281635" y="98055"/>
                </ns1:lnTo>
                <ns1:lnTo>
                  <ns1:pt x="291694" y="108296"/>
                </ns1:lnTo>
                <ns1:lnTo>
                  <ns1:pt x="301752" y="118169"/>
                </ns1:lnTo>
                <ns1:lnTo>
                  <ns1:pt x="311810" y="127694"/>
                </ns1:lnTo>
                <ns1:lnTo>
                  <ns1:pt x="321869" y="136888"/>
                </ns1:lnTo>
                <ns1:lnTo>
                  <ns1:pt x="331927" y="145770"/>
                </ns1:lnTo>
                <ns1:lnTo>
                  <ns1:pt x="341986" y="154354"/>
                </ns1:lnTo>
                <ns1:lnTo>
                  <ns1:pt x="352044" y="162656"/>
                </ns1:lnTo>
                <ns1:lnTo>
                  <ns1:pt x="362102" y="170688"/>
                </ns1:lnTo>
                <ns1:lnTo>
                  <ns1:pt x="372161" y="178464"/>
                </ns1:lnTo>
                <ns1:lnTo>
                  <ns1:pt x="382219" y="185996"/>
                </ns1:lnTo>
                <ns1:lnTo>
                  <ns1:pt x="392278" y="193296"/>
                </ns1:lnTo>
                <ns1:lnTo>
                  <ns1:pt x="402336" y="200373"/>
                </ns1:lnTo>
                <ns1:lnTo>
                  <ns1:pt x="412394" y="207238"/>
                </ns1:lnTo>
                <ns1:lnTo>
                  <ns1:pt x="422453" y="213900"/>
                </ns1:lnTo>
                <ns1:lnTo>
                  <ns1:pt x="432511" y="220368"/>
                </ns1:lnTo>
                <ns1:lnTo>
                  <ns1:pt x="442570" y="226651"/>
                </ns1:lnTo>
                <ns1:lnTo>
                  <ns1:pt x="452628" y="232756"/>
                </ns1:lnTo>
                <ns1:lnTo>
                  <ns1:pt x="462686" y="238691"/>
                </ns1:lnTo>
                <ns1:lnTo>
                  <ns1:pt x="472745" y="244463"/>
                </ns1:lnTo>
                <ns1:lnTo>
                  <ns1:pt x="482803" y="250078"/>
                </ns1:lnTo>
                <ns1:lnTo>
                  <ns1:pt x="492862" y="255542"/>
                </ns1:lnTo>
                <ns1:lnTo>
                  <ns1:pt x="502920" y="260863"/>
                </ns1:lnTo>
                <ns1:lnTo>
                  <ns1:pt x="512978" y="266044"/>
                </ns1:lnTo>
                <ns1:lnTo>
                  <ns1:pt x="523037" y="271093"/>
                </ns1:lnTo>
                <ns1:lnTo>
                  <ns1:pt x="533095" y="276013"/>
                </ns1:lnTo>
                <ns1:lnTo>
                  <ns1:pt x="543154" y="280809"/>
                </ns1:lnTo>
                <ns1:lnTo>
                  <ns1:pt x="553212" y="285487"/>
                </ns1:lnTo>
                <ns1:lnTo>
                  <ns1:pt x="563270" y="290050"/>
                </ns1:lnTo>
                <ns1:lnTo>
                  <ns1:pt x="573329" y="294503"/>
                </ns1:lnTo>
                <ns1:lnTo>
                  <ns1:pt x="583387" y="298850"/>
                </ns1:lnTo>
                <ns1:lnTo>
                  <ns1:pt x="593446" y="303094"/>
                </ns1:lnTo>
                <ns1:lnTo>
                  <ns1:pt x="603504" y="307238"/>
                </ns1:lnTo>
                <ns1:lnTo>
                  <ns1:pt x="613562" y="311288"/>
                </ns1:lnTo>
                <ns1:lnTo>
                  <ns1:pt x="623621" y="315245"/>
                </ns1:lnTo>
                <ns1:lnTo>
                  <ns1:pt x="633679" y="319112"/>
                </ns1:lnTo>
                <ns1:lnTo>
                  <ns1:pt x="643738" y="322894"/>
                </ns1:lnTo>
                <ns1:lnTo>
                  <ns1:pt x="653796" y="326592"/>
                </ns1:lnTo>
                <ns1:lnTo>
                  <ns1:pt x="663854" y="330209"/>
                </ns1:lnTo>
                <ns1:lnTo>
                  <ns1:pt x="673913" y="333749"/>
                </ns1:lnTo>
                <ns1:lnTo>
                  <ns1:pt x="683971" y="337213"/>
                </ns1:lnTo>
                <ns1:lnTo>
                  <ns1:pt x="694030" y="340604"/>
                </ns1:lnTo>
                <ns1:lnTo>
                  <ns1:pt x="704088" y="343924"/>
                </ns1:lnTo>
                <ns1:lnTo>
                  <ns1:pt x="714146" y="347175"/>
                </ns1:lnTo>
                <ns1:lnTo>
                  <ns1:pt x="724205" y="350360"/>
                </ns1:lnTo>
                <ns1:lnTo>
                  <ns1:pt x="734263" y="353480"/>
                </ns1:lnTo>
                <ns1:lnTo>
                  <ns1:pt x="744322" y="356537"/>
                </ns1:lnTo>
                <ns1:lnTo>
                  <ns1:pt x="754380" y="359534"/>
                </ns1:lnTo>
                <ns1:lnTo>
                  <ns1:pt x="764438" y="362472"/>
                </ns1:lnTo>
                <ns1:lnTo>
                  <ns1:pt x="774497" y="365353"/>
                </ns1:lnTo>
                <ns1:lnTo>
                  <ns1:pt x="784555" y="368178"/>
                </ns1:lnTo>
                <ns1:lnTo>
                  <ns1:pt x="794614" y="370950"/>
                </ns1:lnTo>
                <ns1:lnTo>
                  <ns1:pt x="804672" y="373668"/>
                </ns1:lnTo>
                <ns1:lnTo>
                  <ns1:pt x="814730" y="376336"/>
                </ns1:lnTo>
                <ns1:lnTo>
                  <ns1:pt x="824789" y="378955"/>
                </ns1:lnTo>
                <ns1:lnTo>
                  <ns1:pt x="834847" y="381525"/>
                </ns1:lnTo>
                <ns1:lnTo>
                  <ns1:pt x="844906" y="384048"/>
                </ns1:lnTo>
                <ns1:lnTo>
                  <ns1:pt x="854964" y="386526"/>
                </ns1:lnTo>
                <ns1:lnTo>
                  <ns1:pt x="865022" y="388959"/>
                </ns1:lnTo>
                <ns1:lnTo>
                  <ns1:pt x="875081" y="391349"/>
                </ns1:lnTo>
                <ns1:lnTo>
                  <ns1:pt x="885139" y="393697"/>
                </ns1:lnTo>
                <ns1:lnTo>
                  <ns1:pt x="895198" y="396005"/>
                </ns1:lnTo>
                <ns1:lnTo>
                  <ns1:pt x="905256" y="398272"/>
                </ns1:lnTo>
                <ns1:lnTo>
                  <ns1:pt x="915314" y="400500"/>
                </ns1:lnTo>
                <ns1:lnTo>
                  <ns1:pt x="925373" y="402691"/>
                </ns1:lnTo>
                <ns1:lnTo>
                  <ns1:pt x="935431" y="404845"/>
                </ns1:lnTo>
                <ns1:lnTo>
                  <ns1:pt x="945490" y="406963"/>
                </ns1:lnTo>
                <ns1:lnTo>
                  <ns1:pt x="955548" y="409045"/>
                </ns1:lnTo>
                <ns1:lnTo>
                  <ns1:pt x="965606" y="411094"/>
                </ns1:lnTo>
                <ns1:lnTo>
                  <ns1:pt x="975665" y="413109"/>
                </ns1:lnTo>
                <ns1:lnTo>
                  <ns1:pt x="985723" y="415091"/>
                </ns1:lnTo>
                <ns1:lnTo>
                  <ns1:pt x="995782" y="417042"/>
                </ns1:lnTo>
                <ns1:lnTo>
                  <ns1:pt x="1005840" y="418961"/>
                </ns1:lnTo>
                <ns1:lnTo>
                  <ns1:pt x="1015898" y="420851"/>
                </ns1:lnTo>
                <ns1:lnTo>
                  <ns1:pt x="1025957" y="422711"/>
                </ns1:lnTo>
                <ns1:lnTo>
                  <ns1:pt x="1036015" y="424541"/>
                </ns1:lnTo>
                <ns1:lnTo>
                  <ns1:pt x="1046074" y="426344"/>
                </ns1:lnTo>
                <ns1:lnTo>
                  <ns1:pt x="1056132" y="428119"/>
                </ns1:lnTo>
                <ns1:lnTo>
                  <ns1:pt x="1066190" y="429867"/>
                </ns1:lnTo>
                <ns1:lnTo>
                  <ns1:pt x="1076249" y="431589"/>
                </ns1:lnTo>
                <ns1:lnTo>
                  <ns1:pt x="1086307" y="433285"/>
                </ns1:lnTo>
                <ns1:lnTo>
                  <ns1:pt x="1096366" y="434956"/>
                </ns1:lnTo>
                <ns1:lnTo>
                  <ns1:pt x="1106424" y="436602"/>
                </ns1:lnTo>
                <ns1:lnTo>
                  <ns1:pt x="1116482" y="438224"/>
                </ns1:lnTo>
                <ns1:lnTo>
                  <ns1:pt x="1126541" y="439823"/>
                </ns1:lnTo>
                <ns1:lnTo>
                  <ns1:pt x="1136599" y="441398"/>
                </ns1:lnTo>
                <ns1:lnTo>
                  <ns1:pt x="1146658" y="442951"/>
                </ns1:lnTo>
                <ns1:lnTo>
                  <ns1:pt x="1156716" y="444482"/>
                </ns1:lnTo>
                <ns1:lnTo>
                  <ns1:pt x="1166774" y="445991"/>
                </ns1:lnTo>
                <ns1:lnTo>
                  <ns1:pt x="1176833" y="447479"/>
                </ns1:lnTo>
                <ns1:lnTo>
                  <ns1:pt x="1186891" y="448947"/>
                </ns1:lnTo>
                <ns1:lnTo>
                  <ns1:pt x="1196950" y="450394"/>
                </ns1:lnTo>
                <ns1:lnTo>
                  <ns1:pt x="1207008" y="451821"/>
                </ns1:lnTo>
                <ns1:lnTo>
                  <ns1:pt x="1207008" y="0"/>
                </ns1:lnTo>
                <ns1:lnTo>
                  <ns1:pt x="0" y="0"/>
                </ns1:lnTo>
                <ns1:close/>
              </ns1:path>
            </ns1:pathLst>
          </ns1:custGeom>
          <ns1:solidFill>
            <ns1:srgbClr val="F2F2F2"/>
          </ns1:solidFill>
          <ns1:ln/>
        </ns0:spPr>
      </ns0:sp>
      <ns0:sp>
        <ns0:nvSpPr>
          <ns0:cNvPr id="187" name="Shape 185"/>
          <ns0:cNvSpPr/>
          <ns0:nvPr/>
        </ns0:nvSpPr>
        <ns0:spPr>
          <ns1:xfrm>
            <ns1:off x="3744468" y="685800"/>
            <ns1:ext cx="1207008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88" name="Shape 186"/>
          <ns0:cNvSpPr/>
          <ns0:nvPr/>
        </ns0:nvSpPr>
        <ns0:spPr>
          <ns1:xfrm>
            <ns1:off x="3744468" y="466344"/>
            <ns1:ext cx="1207008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89" name="Shape 187"/>
          <ns0:cNvSpPr/>
          <ns0:nvPr/>
        </ns0:nvSpPr>
        <ns0:spPr>
          <ns1:xfrm>
            <ns1:off x="3830683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90" name="Shape 188"/>
          <ns0:cNvSpPr/>
          <ns0:nvPr/>
        </ns0:nvSpPr>
        <ns0:spPr>
          <ns1:xfrm>
            <ns1:off x="4003113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91" name="Shape 189"/>
          <ns0:cNvSpPr/>
          <ns0:nvPr/>
        </ns0:nvSpPr>
        <ns0:spPr>
          <ns1:xfrm>
            <ns1:off x="4175542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92" name="Shape 190"/>
          <ns0:cNvSpPr/>
          <ns0:nvPr/>
        </ns0:nvSpPr>
        <ns0:spPr>
          <ns1:xfrm>
            <ns1:off x="4347972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93" name="Shape 191"/>
          <ns0:cNvSpPr/>
          <ns0:nvPr/>
        </ns0:nvSpPr>
        <ns0:spPr>
          <ns1:xfrm>
            <ns1:off x="4520402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94" name="Shape 192"/>
          <ns0:cNvSpPr/>
          <ns0:nvPr/>
        </ns0:nvSpPr>
        <ns0:spPr>
          <ns1:xfrm>
            <ns1:off x="4865261" y="246888"/>
            <ns1:ext cx="0" cy="658368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195" name="Shape 193"/>
          <ns0:cNvSpPr/>
          <ns0:nvPr/>
        </ns0:nvSpPr>
        <ns0:spPr>
          <ns1:xfrm>
            <ns1:off x="3945636" y="246888"/>
            <ns1:ext cx="1005840" cy="451821"/>
          </ns1:xfrm>
          <ns1:custGeom>
            <ns1:avLst/>
            <ns1:gdLst/>
            <ns1:ahLst/>
            <ns1:cxnLst/>
            <ns1:rect l="l" t="t" r="r" b="b"/>
            <ns1:pathLst>
              <ns1:path w="1005840" h="451821">
                <ns1:moveTo>
                  <ns1:pt x="0" y="0"/>
                </ns1:moveTo>
                <ns1:lnTo>
                  <ns1:pt x="10058" y="14094"/>
                </ns1:lnTo>
                <ns1:lnTo>
                  <ns1:pt x="20117" y="27596"/>
                </ns1:lnTo>
                <ns1:lnTo>
                  <ns1:pt x="30175" y="40545"/>
                </ns1:lnTo>
                <ns1:lnTo>
                  <ns1:pt x="40234" y="52972"/>
                </ns1:lnTo>
                <ns1:lnTo>
                  <ns1:pt x="50292" y="64910"/>
                </ns1:lnTo>
                <ns1:lnTo>
                  <ns1:pt x="60350" y="76385"/>
                </ns1:lnTo>
                <ns1:lnTo>
                  <ns1:pt x="70409" y="87426"/>
                </ns1:lnTo>
                <ns1:lnTo>
                  <ns1:pt x="80467" y="98055"/>
                </ns1:lnTo>
                <ns1:lnTo>
                  <ns1:pt x="90526" y="108296"/>
                </ns1:lnTo>
                <ns1:lnTo>
                  <ns1:pt x="100584" y="118169"/>
                </ns1:lnTo>
                <ns1:lnTo>
                  <ns1:pt x="110642" y="127694"/>
                </ns1:lnTo>
                <ns1:lnTo>
                  <ns1:pt x="120701" y="136888"/>
                </ns1:lnTo>
                <ns1:lnTo>
                  <ns1:pt x="130759" y="145770"/>
                </ns1:lnTo>
                <ns1:lnTo>
                  <ns1:pt x="140818" y="154354"/>
                </ns1:lnTo>
                <ns1:lnTo>
                  <ns1:pt x="150876" y="162656"/>
                </ns1:lnTo>
                <ns1:lnTo>
                  <ns1:pt x="160934" y="170688"/>
                </ns1:lnTo>
                <ns1:lnTo>
                  <ns1:pt x="170993" y="178464"/>
                </ns1:lnTo>
                <ns1:lnTo>
                  <ns1:pt x="181051" y="185996"/>
                </ns1:lnTo>
                <ns1:lnTo>
                  <ns1:pt x="191110" y="193296"/>
                </ns1:lnTo>
                <ns1:lnTo>
                  <ns1:pt x="201168" y="200373"/>
                </ns1:lnTo>
                <ns1:lnTo>
                  <ns1:pt x="211226" y="207238"/>
                </ns1:lnTo>
                <ns1:lnTo>
                  <ns1:pt x="221285" y="213900"/>
                </ns1:lnTo>
                <ns1:lnTo>
                  <ns1:pt x="231343" y="220368"/>
                </ns1:lnTo>
                <ns1:lnTo>
                  <ns1:pt x="241402" y="226651"/>
                </ns1:lnTo>
                <ns1:lnTo>
                  <ns1:pt x="251460" y="232756"/>
                </ns1:lnTo>
                <ns1:lnTo>
                  <ns1:pt x="261518" y="238691"/>
                </ns1:lnTo>
                <ns1:lnTo>
                  <ns1:pt x="271577" y="244463"/>
                </ns1:lnTo>
                <ns1:lnTo>
                  <ns1:pt x="281635" y="250078"/>
                </ns1:lnTo>
                <ns1:lnTo>
                  <ns1:pt x="291694" y="255542"/>
                </ns1:lnTo>
                <ns1:lnTo>
                  <ns1:pt x="301752" y="260863"/>
                </ns1:lnTo>
                <ns1:lnTo>
                  <ns1:pt x="311810" y="266044"/>
                </ns1:lnTo>
                <ns1:lnTo>
                  <ns1:pt x="321869" y="271093"/>
                </ns1:lnTo>
                <ns1:lnTo>
                  <ns1:pt x="331927" y="276013"/>
                </ns1:lnTo>
                <ns1:lnTo>
                  <ns1:pt x="341986" y="280809"/>
                </ns1:lnTo>
                <ns1:lnTo>
                  <ns1:pt x="352044" y="285487"/>
                </ns1:lnTo>
                <ns1:lnTo>
                  <ns1:pt x="362102" y="290050"/>
                </ns1:lnTo>
                <ns1:lnTo>
                  <ns1:pt x="372161" y="294503"/>
                </ns1:lnTo>
                <ns1:lnTo>
                  <ns1:pt x="382219" y="298850"/>
                </ns1:lnTo>
                <ns1:lnTo>
                  <ns1:pt x="392278" y="303094"/>
                </ns1:lnTo>
                <ns1:lnTo>
                  <ns1:pt x="402336" y="307238"/>
                </ns1:lnTo>
                <ns1:lnTo>
                  <ns1:pt x="412394" y="311288"/>
                </ns1:lnTo>
                <ns1:lnTo>
                  <ns1:pt x="422453" y="315245"/>
                </ns1:lnTo>
                <ns1:lnTo>
                  <ns1:pt x="432511" y="319112"/>
                </ns1:lnTo>
                <ns1:lnTo>
                  <ns1:pt x="442570" y="322894"/>
                </ns1:lnTo>
                <ns1:lnTo>
                  <ns1:pt x="452628" y="326592"/>
                </ns1:lnTo>
                <ns1:lnTo>
                  <ns1:pt x="462686" y="330209"/>
                </ns1:lnTo>
                <ns1:lnTo>
                  <ns1:pt x="472745" y="333749"/>
                </ns1:lnTo>
                <ns1:lnTo>
                  <ns1:pt x="482803" y="337213"/>
                </ns1:lnTo>
                <ns1:lnTo>
                  <ns1:pt x="492862" y="340604"/>
                </ns1:lnTo>
                <ns1:lnTo>
                  <ns1:pt x="502920" y="343924"/>
                </ns1:lnTo>
                <ns1:lnTo>
                  <ns1:pt x="512978" y="347175"/>
                </ns1:lnTo>
                <ns1:lnTo>
                  <ns1:pt x="523037" y="350360"/>
                </ns1:lnTo>
                <ns1:lnTo>
                  <ns1:pt x="533095" y="353480"/>
                </ns1:lnTo>
                <ns1:lnTo>
                  <ns1:pt x="543154" y="356537"/>
                </ns1:lnTo>
                <ns1:lnTo>
                  <ns1:pt x="553212" y="359534"/>
                </ns1:lnTo>
                <ns1:lnTo>
                  <ns1:pt x="563270" y="362472"/>
                </ns1:lnTo>
                <ns1:lnTo>
                  <ns1:pt x="573329" y="365353"/>
                </ns1:lnTo>
                <ns1:lnTo>
                  <ns1:pt x="583387" y="368178"/>
                </ns1:lnTo>
                <ns1:lnTo>
                  <ns1:pt x="593446" y="370950"/>
                </ns1:lnTo>
                <ns1:lnTo>
                  <ns1:pt x="603504" y="373668"/>
                </ns1:lnTo>
                <ns1:lnTo>
                  <ns1:pt x="613562" y="376336"/>
                </ns1:lnTo>
                <ns1:lnTo>
                  <ns1:pt x="623621" y="378955"/>
                </ns1:lnTo>
                <ns1:lnTo>
                  <ns1:pt x="633679" y="381525"/>
                </ns1:lnTo>
                <ns1:lnTo>
                  <ns1:pt x="643738" y="384048"/>
                </ns1:lnTo>
                <ns1:lnTo>
                  <ns1:pt x="653796" y="386526"/>
                </ns1:lnTo>
                <ns1:lnTo>
                  <ns1:pt x="663854" y="388959"/>
                </ns1:lnTo>
                <ns1:lnTo>
                  <ns1:pt x="673913" y="391349"/>
                </ns1:lnTo>
                <ns1:lnTo>
                  <ns1:pt x="683971" y="393697"/>
                </ns1:lnTo>
                <ns1:lnTo>
                  <ns1:pt x="694030" y="396005"/>
                </ns1:lnTo>
                <ns1:lnTo>
                  <ns1:pt x="704088" y="398272"/>
                </ns1:lnTo>
                <ns1:lnTo>
                  <ns1:pt x="714146" y="400500"/>
                </ns1:lnTo>
                <ns1:lnTo>
                  <ns1:pt x="724205" y="402691"/>
                </ns1:lnTo>
                <ns1:lnTo>
                  <ns1:pt x="734263" y="404845"/>
                </ns1:lnTo>
                <ns1:lnTo>
                  <ns1:pt x="744322" y="406963"/>
                </ns1:lnTo>
                <ns1:lnTo>
                  <ns1:pt x="754380" y="409045"/>
                </ns1:lnTo>
                <ns1:lnTo>
                  <ns1:pt x="764438" y="411094"/>
                </ns1:lnTo>
                <ns1:lnTo>
                  <ns1:pt x="774497" y="413109"/>
                </ns1:lnTo>
                <ns1:lnTo>
                  <ns1:pt x="784555" y="415091"/>
                </ns1:lnTo>
                <ns1:lnTo>
                  <ns1:pt x="794614" y="417042"/>
                </ns1:lnTo>
                <ns1:lnTo>
                  <ns1:pt x="804672" y="418961"/>
                </ns1:lnTo>
                <ns1:lnTo>
                  <ns1:pt x="814730" y="420851"/>
                </ns1:lnTo>
                <ns1:lnTo>
                  <ns1:pt x="824789" y="422711"/>
                </ns1:lnTo>
                <ns1:lnTo>
                  <ns1:pt x="834847" y="424541"/>
                </ns1:lnTo>
                <ns1:lnTo>
                  <ns1:pt x="844906" y="426344"/>
                </ns1:lnTo>
                <ns1:lnTo>
                  <ns1:pt x="854964" y="428119"/>
                </ns1:lnTo>
                <ns1:lnTo>
                  <ns1:pt x="865022" y="429867"/>
                </ns1:lnTo>
                <ns1:lnTo>
                  <ns1:pt x="875081" y="431589"/>
                </ns1:lnTo>
                <ns1:lnTo>
                  <ns1:pt x="885139" y="433285"/>
                </ns1:lnTo>
                <ns1:lnTo>
                  <ns1:pt x="895198" y="434956"/>
                </ns1:lnTo>
                <ns1:lnTo>
                  <ns1:pt x="905256" y="436602"/>
                </ns1:lnTo>
                <ns1:lnTo>
                  <ns1:pt x="915314" y="438224"/>
                </ns1:lnTo>
                <ns1:lnTo>
                  <ns1:pt x="925373" y="439823"/>
                </ns1:lnTo>
                <ns1:lnTo>
                  <ns1:pt x="935431" y="441398"/>
                </ns1:lnTo>
                <ns1:lnTo>
                  <ns1:pt x="945490" y="442951"/>
                </ns1:lnTo>
                <ns1:lnTo>
                  <ns1:pt x="955548" y="444482"/>
                </ns1:lnTo>
                <ns1:lnTo>
                  <ns1:pt x="965606" y="445991"/>
                </ns1:lnTo>
                <ns1:lnTo>
                  <ns1:pt x="975665" y="447479"/>
                </ns1:lnTo>
                <ns1:lnTo>
                  <ns1:pt x="985723" y="448947"/>
                </ns1:lnTo>
                <ns1:lnTo>
                  <ns1:pt x="995782" y="450394"/>
                </ns1:lnTo>
                <ns1:lnTo>
                  <ns1:pt x="1005840" y="451821"/>
                </ns1:lnTo>
              </ns1:path>
            </ns1:pathLst>
          </ns1:custGeom>
          <ns1:ln w="10160">
            <ns1:solidFill>
              <ns1:srgbClr val="404040"/>
            </ns1:solidFill>
            <ns1:prstDash val="sysDot"/>
          </ns1:ln>
        </ns0:spPr>
      </ns0:sp>
      <ns0:sp>
        <ns0:nvSpPr>
          <ns0:cNvPr id="196" name="Text 194"/>
          <ns0:cNvSpPr txBox="1"/>
          <ns0:nvPr/>
        </ns0:nvSpPr>
        <ns0:spPr>
          <ns1:xfrm>
            <ns1:off x="4483930" y="745236"/>
            <ns1:ext cx="457200" cy="100584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630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period 1/</ns1:t>
            </ns1:r>
            <ns1:pPr algn="r" indent="0" marL="0">
              <ns1:buNone/>
            </ns1:pPr>
            <ns1:r>
              <ns1:rPr lang="en-US" sz="630" i="1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λ</ns1:t>
            </ns1:r>
            <ns1:endParaRPr lang="en-US" sz="630" dirty="0"/>
          </ns1:p>
        </ns0:txBody>
      </ns0:sp>
      <ns0:sp>
        <ns0:nvSpPr>
          <ns0:cNvPr id="197" name="Text 195"/>
          <ns0:cNvSpPr txBox="1"/>
          <ns0:nvPr/>
        </ns0:nvSpPr>
        <ns0:spPr>
          <ns1:xfrm>
            <ns1:off x="4128516" y="268834"/>
            <ns1:ext cx="795528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r" indent="0" marL="0">
              <ns1:lnSpc>
                <ns1:spcPct val="90000"/>
              </ns1:lnSpc>
              <ns1:buNone/>
            </ns1:pPr>
            <ns1:r>
              <ns1:rPr lang="en-US" sz="630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next arrival finds</ns1:t>
            </ns1:r>
            <ns1:endParaRPr lang="en-US" sz="630" dirty="0"/>
          </ns1:p>
          <ns1:p>
            <ns1:pPr algn="r" indent="0" marL="0">
              <ns1:lnSpc>
                <ns1:spcPct val="90000"/>
              </ns1:lnSpc>
              <ns1:buNone/>
            </ns1:pPr>
            <ns1:r>
              <ns1:rPr lang="en-US" sz="630" dirty="0">
                <ns1:solidFill>
                  <ns1:srgbClr val="40404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the slot busy</ns1:t>
            </ns1:r>
            <ns1:endParaRPr lang="en-US" sz="630" dirty="0"/>
          </ns1:p>
        </ns0:txBody>
      </ns0:sp>
      <ns0:sp>
        <ns0:nvSpPr>
          <ns0:cNvPr id="198" name="Shape 196"/>
          <ns0:cNvSpPr/>
          <ns0:nvPr/>
        </ns0:nvSpPr>
        <ns0:spPr>
          <ns1:xfrm>
            <ns1:off x="3830683" y="512711"/>
            <ns1:ext cx="1034578" cy="236021"/>
          </ns1:xfrm>
          <ns1:custGeom>
            <ns1:avLst/>
            <ns1:gdLst/>
            <ns1:ahLst/>
            <ns1:cxnLst/>
            <ns1:rect l="l" t="t" r="r" b="b"/>
            <ns1:pathLst>
              <ns1:path w="1034578" h="236021">
                <ns1:moveTo>
                  <ns1:pt x="0" y="204296"/>
                </ns1:moveTo>
                <ns1:lnTo>
                  <ns1:pt x="172430" y="201109"/>
                </ns1:lnTo>
                <ns1:lnTo>
                  <ns1:pt x="344859" y="342"/>
                </ns1:lnTo>
                <ns1:lnTo>
                  <ns1:pt x="517289" y="8462"/>
                </ns1:lnTo>
                <ns1:lnTo>
                  <ns1:pt x="689719" y="0"/>
                </ns1:lnTo>
                <ns1:lnTo>
                  <ns1:pt x="1034578" y="8155"/>
                </ns1:lnTo>
                <ns1:lnTo>
                  <ns1:pt x="1034578" y="188214"/>
                </ns1:lnTo>
                <ns1:lnTo>
                  <ns1:pt x="689719" y="211090"/>
                </ns1:lnTo>
                <ns1:lnTo>
                  <ns1:pt x="517289" y="232992"/>
                </ns1:lnTo>
                <ns1:lnTo>
                  <ns1:pt x="344859" y="197879"/>
                </ns1:lnTo>
                <ns1:lnTo>
                  <ns1:pt x="172430" y="236021"/>
                </ns1:lnTo>
                <ns1:lnTo>
                  <ns1:pt x="0" y="234879"/>
                </ns1:lnTo>
                <ns1:close/>
              </ns1:path>
            </ns1:pathLst>
          </ns1:custGeom>
          <ns1:solidFill>
            <ns1:srgbClr val="BDD7EE"/>
          </ns1:solidFill>
          <ns1:ln/>
        </ns0:spPr>
      </ns0:sp>
      <ns0:sp>
        <ns0:nvSpPr>
          <ns0:cNvPr id="199" name="Shape 197"/>
          <ns0:cNvSpPr/>
          <ns0:nvPr/>
        </ns0:nvSpPr>
        <ns0:spPr>
          <ns1:xfrm>
            <ns1:off x="3830683" y="454897"/>
            <ns1:ext cx="1034578" cy="4635"/>
          </ns1:xfrm>
          <ns1:custGeom>
            <ns1:avLst/>
            <ns1:gdLst/>
            <ns1:ahLst/>
            <ns1:cxnLst/>
            <ns1:rect l="l" t="t" r="r" b="b"/>
            <ns1:pathLst>
              <ns1:path w="1034578" h="4635">
                <ns1:moveTo>
                  <ns1:pt x="0" y="0"/>
                </ns1:moveTo>
                <ns1:lnTo>
                  <ns1:pt x="172430" y="211"/>
                </ns1:lnTo>
                <ns1:lnTo>
                  <ns1:pt x="344859" y="97"/>
                </ns1:lnTo>
                <ns1:lnTo>
                  <ns1:pt x="517289" y="887"/>
                </ns1:lnTo>
                <ns1:lnTo>
                  <ns1:pt x="689719" y="746"/>
                </ns1:lnTo>
                <ns1:lnTo>
                  <ns1:pt x="1034578" y="729"/>
                </ns1:lnTo>
                <ns1:lnTo>
                  <ns1:pt x="1034578" y="4310"/>
                </ns1:lnTo>
                <ns1:lnTo>
                  <ns1:pt x="689719" y="4635"/>
                </ns1:lnTo>
                <ns1:lnTo>
                  <ns1:pt x="517289" y="4424"/>
                </ns1:lnTo>
                <ns1:lnTo>
                  <ns1:pt x="344859" y="4389"/>
                </ns1:lnTo>
                <ns1:lnTo>
                  <ns1:pt x="172430" y="4363"/>
                </ns1:lnTo>
                <ns1:lnTo>
                  <ns1:pt x="0" y="3933"/>
                </ns1:lnTo>
                <ns1:close/>
              </ns1:path>
            </ns1:pathLst>
          </ns1:custGeom>
          <ns1:solidFill>
            <ns1:srgbClr val="D9D9D9"/>
          </ns1:solidFill>
          <ns1:ln/>
        </ns0:spPr>
      </ns0:sp>
      <ns0:sp>
        <ns0:nvSpPr>
          <ns0:cNvPr id="200" name="Shape 198"/>
          <ns0:cNvSpPr/>
          <ns0:nvPr/>
        </ns0:nvSpPr>
        <ns0:spPr>
          <ns1:xfrm>
            <ns1:off x="3830683" y="457048"/>
            <ns1:ext cx="1034578" cy="914"/>
          </ns1:xfrm>
          <ns1:custGeom>
            <ns1:avLst/>
            <ns1:gdLst/>
            <ns1:ahLst/>
            <ns1:cxnLst/>
            <ns1:rect l="l" t="t" r="r" b="b"/>
            <ns1:pathLst>
              <ns1:path w="1034578" h="914">
                <ns1:moveTo>
                  <ns1:pt x="0" y="0"/>
                </ns1:moveTo>
                <ns1:lnTo>
                  <ns1:pt x="172430" y="158"/>
                </ns1:lnTo>
                <ns1:lnTo>
                  <ns1:pt x="344859" y="255"/>
                </ns1:lnTo>
                <ns1:lnTo>
                  <ns1:pt x="517289" y="544"/>
                </ns1:lnTo>
                <ns1:lnTo>
                  <ns1:pt x="689719" y="588"/>
                </ns1:lnTo>
                <ns1:lnTo>
                  <ns1:pt x="1034578" y="518"/>
                </ns1:lnTo>
              </ns1:path>
            </ns1:pathLst>
          </ns1:custGeom>
          <ns1:ln w="13970">
            <ns1:solidFill>
              <ns1:srgbClr val="7F7F7F"/>
            </ns1:solidFill>
            <ns1:prstDash val="solid"/>
          </ns1:ln>
        </ns0:spPr>
      </ns0:sp>
      <ns0:sp>
        <ns0:nvSpPr>
          <ns0:cNvPr id="201" name="Shape 199"/>
          <ns0:cNvSpPr/>
          <ns0:nvPr/>
        </ns0:nvSpPr>
        <ns0:spPr>
          <ns1:xfrm>
            <ns1:off x="3808051" y="434416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202" name="Shape 200"/>
          <ns0:cNvSpPr/>
          <ns0:nvPr/>
        </ns0:nvSpPr>
        <ns0:spPr>
          <ns1:xfrm>
            <ns1:off x="3980481" y="434574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203" name="Shape 201"/>
          <ns0:cNvSpPr/>
          <ns0:nvPr/>
        </ns0:nvSpPr>
        <ns0:spPr>
          <ns1:xfrm>
            <ns1:off x="4152911" y="434671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204" name="Shape 202"/>
          <ns0:cNvSpPr/>
          <ns0:nvPr/>
        </ns0:nvSpPr>
        <ns0:spPr>
          <ns1:xfrm>
            <ns1:off x="4325341" y="434961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205" name="Shape 203"/>
          <ns0:cNvSpPr/>
          <ns0:nvPr/>
        </ns0:nvSpPr>
        <ns0:spPr>
          <ns1:xfrm>
            <ns1:off x="4497770" y="435005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206" name="Shape 204"/>
          <ns0:cNvSpPr/>
          <ns0:nvPr/>
        </ns0:nvSpPr>
        <ns0:spPr>
          <ns1:xfrm>
            <ns1:off x="4842630" y="434934"/>
            <ns1:ext cx="45263" cy="45263"/>
          </ns1:xfrm>
          <ns1:prstGeom prst="rect">
            <ns1:avLst/>
          </ns1:prstGeom>
          <ns1:solidFill>
            <ns1:srgbClr val="7F7F7F"/>
          </ns1:solidFill>
          <ns1:ln w="8890">
            <ns1:solidFill>
              <ns1:srgbClr val="7F7F7F"/>
            </ns1:solidFill>
            <ns1:prstDash val="solid"/>
          </ns1:ln>
        </ns0:spPr>
      </ns0:sp>
      <ns0:sp>
        <ns0:nvSpPr>
          <ns0:cNvPr id="207" name="Shape 205"/>
          <ns0:cNvSpPr/>
          <ns0:nvPr/>
        </ns0:nvSpPr>
        <ns0:spPr>
          <ns1:xfrm>
            <ns1:off x="3830683" y="607551"/>
            <ns1:ext cx="1034578" cy="128496"/>
          </ns1:xfrm>
          <ns1:custGeom>
            <ns1:avLst/>
            <ns1:gdLst/>
            <ns1:ahLst/>
            <ns1:cxnLst/>
            <ns1:rect l="l" t="t" r="r" b="b"/>
            <ns1:pathLst>
              <ns1:path w="1034578" h="128496">
                <ns1:moveTo>
                  <ns1:pt x="0" y="128496"/>
                </ns1:moveTo>
                <ns1:lnTo>
                  <ns1:pt x="172430" y="126091"/>
                </ns1:lnTo>
                <ns1:lnTo>
                  <ns1:pt x="344859" y="14309"/>
                </ns1:lnTo>
                <ns1:lnTo>
                  <ns1:pt x="517289" y="37071"/>
                </ns1:lnTo>
                <ns1:lnTo>
                  <ns1:pt x="689719" y="11543"/>
                </ns1:lnTo>
                <ns1:lnTo>
                  <ns1:pt x="1034578" y="0"/>
                </ns1:lnTo>
              </ns1:path>
            </ns1:pathLst>
          </ns1:custGeom>
          <ns1:ln w="16510">
            <ns1:solidFill>
              <ns1:srgbClr val="4472C4"/>
            </ns1:solidFill>
            <ns1:prstDash val="solid"/>
          </ns1:ln>
        </ns0:spPr>
      </ns0:sp>
      <ns0:sp>
        <ns0:nvSpPr>
          <ns0:cNvPr id="208" name="Shape 206"/>
          <ns0:cNvSpPr/>
          <ns0:nvPr/>
        </ns0:nvSpPr>
        <ns0:spPr>
          <ns1:xfrm>
            <ns1:off x="3805537" y="710901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209" name="Shape 207"/>
          <ns0:cNvSpPr/>
          <ns0:nvPr/>
        </ns0:nvSpPr>
        <ns0:spPr>
          <ns1:xfrm>
            <ns1:off x="3977967" y="708495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210" name="Shape 208"/>
          <ns0:cNvSpPr/>
          <ns0:nvPr/>
        </ns0:nvSpPr>
        <ns0:spPr>
          <ns1:xfrm>
            <ns1:off x="4150396" y="596713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211" name="Shape 209"/>
          <ns0:cNvSpPr/>
          <ns0:nvPr/>
        </ns0:nvSpPr>
        <ns0:spPr>
          <ns1:xfrm>
            <ns1:off x="4322826" y="619475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212" name="Shape 210"/>
          <ns0:cNvSpPr/>
          <ns0:nvPr/>
        </ns0:nvSpPr>
        <ns0:spPr>
          <ns1:xfrm>
            <ns1:off x="4495256" y="593948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213" name="Shape 211"/>
          <ns0:cNvSpPr/>
          <ns0:nvPr/>
        </ns0:nvSpPr>
        <ns0:spPr>
          <ns1:xfrm>
            <ns1:off x="4840115" y="582405"/>
            <ns1:ext cx="50292" cy="50292"/>
          </ns1:xfrm>
          <ns1:prstGeom prst="ellipse">
            <ns1:avLst/>
          </ns1:prstGeom>
          <ns1:solidFill>
            <ns1:srgbClr val="4472C4"/>
          </ns1:solidFill>
          <ns1:ln w="8890">
            <ns1:solidFill>
              <ns1:srgbClr val="4472C4"/>
            </ns1:solidFill>
            <ns1:prstDash val="solid"/>
          </ns1:ln>
        </ns0:spPr>
      </ns0:sp>
      <ns0:sp>
        <ns0:nvSpPr>
          <ns0:cNvPr id="214" name="Shape 212"/>
          <ns0:cNvSpPr/>
          <ns0:nvPr/>
        </ns0:nvSpPr>
        <ns0:spPr>
          <ns1:xfrm>
            <ns1:off x="3830683" y="603109"/>
            <ns1:ext cx="1034578" cy="135238"/>
          </ns1:xfrm>
          <ns1:custGeom>
            <ns1:avLst/>
            <ns1:gdLst/>
            <ns1:ahLst/>
            <ns1:cxnLst/>
            <ns1:rect l="l" t="t" r="r" b="b"/>
            <ns1:pathLst>
              <ns1:path w="1034578" h="135238">
                <ns1:moveTo>
                  <ns1:pt x="0" y="135238"/>
                </ns1:moveTo>
                <ns1:lnTo>
                  <ns1:pt x="172430" y="133464"/>
                </ns1:lnTo>
                <ns1:lnTo>
                  <ns1:pt x="344859" y="18250"/>
                </ns1:lnTo>
                <ns1:lnTo>
                  <ns1:pt x="517289" y="49448"/>
                </ns1:lnTo>
                <ns1:lnTo>
                  <ns1:pt x="689719" y="17477"/>
                </ns1:lnTo>
                <ns1:lnTo>
                  <ns1:pt x="1034578" y="0"/>
                </ns1:lnTo>
              </ns1:path>
            </ns1:pathLst>
          </ns1:custGeom>
          <ns1:ln w="13970">
            <ns1:solidFill>
              <ns1:srgbClr val="ED7D31"/>
            </ns1:solidFill>
            <ns1:prstDash val="dash"/>
          </ns1:ln>
        </ns0:spPr>
      </ns0:sp>
      <ns0:sp>
        <ns0:nvSpPr>
          <ns0:cNvPr id="215" name="Shape 213"/>
          <ns0:cNvSpPr/>
          <ns0:nvPr/>
        </ns0:nvSpPr>
        <ns0:spPr>
          <ns1:xfrm>
            <ns1:off x="3797993" y="705657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216" name="Shape 214"/>
          <ns0:cNvSpPr/>
          <ns0:nvPr/>
        </ns0:nvSpPr>
        <ns0:spPr>
          <ns1:xfrm>
            <ns1:off x="3970423" y="703884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217" name="Shape 215"/>
          <ns0:cNvSpPr/>
          <ns0:nvPr/>
        </ns0:nvSpPr>
        <ns0:spPr>
          <ns1:xfrm>
            <ns1:off x="4142852" y="588669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218" name="Shape 216"/>
          <ns0:cNvSpPr/>
          <ns0:nvPr/>
        </ns0:nvSpPr>
        <ns0:spPr>
          <ns1:xfrm>
            <ns1:off x="4315282" y="619867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219" name="Shape 217"/>
          <ns0:cNvSpPr/>
          <ns0:nvPr/>
        </ns0:nvSpPr>
        <ns0:spPr>
          <ns1:xfrm>
            <ns1:off x="4487712" y="587897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220" name="Shape 218"/>
          <ns0:cNvSpPr/>
          <ns0:nvPr/>
        </ns0:nvSpPr>
        <ns0:spPr>
          <ns1:xfrm>
            <ns1:off x="4832571" y="570419"/>
            <ns1:ext cx="65380" cy="65380"/>
          </ns1:xfrm>
          <ns1:prstGeom prst="diamond">
            <ns1:avLst/>
          </ns1:prstGeom>
          <ns1:solidFill>
            <ns1:srgbClr val="FFFFFF"/>
          </ns1:solidFill>
          <ns1:ln w="8890">
            <ns1:solidFill>
              <ns1:srgbClr val="ED7D31"/>
            </ns1:solidFill>
            <ns1:prstDash val="solid"/>
          </ns1:ln>
        </ns0:spPr>
      </ns0:sp>
      <ns0:sp>
        <ns0:nvSpPr>
          <ns0:cNvPr id="221" name="Shape 219"/>
          <ns0:cNvSpPr/>
          <ns0:nvPr/>
        </ns0:nvSpPr>
        <ns0:spPr>
          <ns1:xfrm>
            <ns1:off x="4116298" y="411846"/>
            <ns1:ext cx="91440" cy="91440"/>
          </ns1:xfrm>
          <ns1:prstGeom prst="ellipse">
            <ns1:avLst/>
          </ns1:prstGeom>
          <ns1:ln w="8890">
            <ns1:solidFill>
              <ns1:srgbClr val="000000"/>
            </ns1:solidFill>
            <ns1:prstDash val="solid"/>
          </ns1:ln>
        </ns0:spPr>
      </ns0:sp>
      <ns0:sp>
        <ns0:nvSpPr>
          <ns0:cNvPr id="222" name="Shape 220"/>
          <ns0:cNvSpPr/>
          <ns0:nvPr/>
        </ns0:nvSpPr>
        <ns0:spPr>
          <ns1:xfrm>
            <ns1:off x="3744468" y="246888"/>
            <ns1:ext cx="1207008" cy="658368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223" name="Shape 221"/>
          <ns0:cNvSpPr/>
          <ns0:nvPr/>
        </ns0:nvSpPr>
        <ns0:spPr>
          <ns1:xfrm>
            <ns1:off x="3717036" y="905256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224" name="Text 222"/>
          <ns0:cNvSpPr txBox="1"/>
          <ns0:nvPr/>
        </ns0:nvSpPr>
        <ns0:spPr>
          <ns1:xfrm>
            <ns1:off x="3332988" y="850392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</ns1:t>
            </ns1:r>
            <ns1:endParaRPr lang="en-US" sz="700" dirty="0"/>
          </ns1:p>
        </ns0:txBody>
      </ns0:sp>
      <ns0:sp>
        <ns0:nvSpPr>
          <ns0:cNvPr id="225" name="Shape 223"/>
          <ns0:cNvSpPr/>
          <ns0:nvPr/>
        </ns0:nvSpPr>
        <ns0:spPr>
          <ns1:xfrm>
            <ns1:off x="3717036" y="685800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226" name="Text 224"/>
          <ns0:cNvSpPr txBox="1"/>
          <ns0:nvPr/>
        </ns0:nvSpPr>
        <ns0:spPr>
          <ns1:xfrm>
            <ns1:off x="3332988" y="630936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25</ns1:t>
            </ns1:r>
            <ns1:endParaRPr lang="en-US" sz="700" dirty="0"/>
          </ns1:p>
        </ns0:txBody>
      </ns0:sp>
      <ns0:sp>
        <ns0:nvSpPr>
          <ns0:cNvPr id="227" name="Shape 225"/>
          <ns0:cNvSpPr/>
          <ns0:nvPr/>
        </ns0:nvSpPr>
        <ns0:spPr>
          <ns1:xfrm>
            <ns1:off x="3717036" y="466344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228" name="Text 226"/>
          <ns0:cNvSpPr txBox="1"/>
          <ns0:nvPr/>
        </ns0:nvSpPr>
        <ns0:spPr>
          <ns1:xfrm>
            <ns1:off x="3332988" y="411480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50</ns1:t>
            </ns1:r>
            <ns1:endParaRPr lang="en-US" sz="700" dirty="0"/>
          </ns1:p>
        </ns0:txBody>
      </ns0:sp>
      <ns0:sp>
        <ns0:nvSpPr>
          <ns0:cNvPr id="229" name="Shape 227"/>
          <ns0:cNvSpPr/>
          <ns0:nvPr/>
        </ns0:nvSpPr>
        <ns0:spPr>
          <ns1:xfrm>
            <ns1:off x="3717036" y="246888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230" name="Text 228"/>
          <ns0:cNvSpPr txBox="1"/>
          <ns0:nvPr/>
        </ns0:nvSpPr>
        <ns0:spPr>
          <ns1:xfrm>
            <ns1:off x="3332988" y="192024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75</ns1:t>
            </ns1:r>
            <ns1:endParaRPr lang="en-US" sz="700" dirty="0"/>
          </ns1:p>
        </ns0:txBody>
      </ns0:sp>
      <ns0:sp>
        <ns0:nvSpPr>
          <ns0:cNvPr id="231" name="Shape 229"/>
          <ns0:cNvSpPr/>
          <ns0:nvPr/>
        </ns0:nvSpPr>
        <ns0:spPr>
          <ns1:xfrm>
            <ns1:off x="3830683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232" name="Text 230"/>
          <ns0:cNvSpPr txBox="1"/>
          <ns0:nvPr/>
        </ns0:nvSpPr>
        <ns0:spPr>
          <ns1:xfrm>
            <ns1:off x="3556363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10</ns1:t>
            </ns1:r>
            <ns1:endParaRPr lang="en-US" sz="700" dirty="0"/>
          </ns1:p>
        </ns0:txBody>
      </ns0:sp>
      <ns0:sp>
        <ns0:nvSpPr>
          <ns0:cNvPr id="233" name="Shape 231"/>
          <ns0:cNvSpPr/>
          <ns0:nvPr/>
        </ns0:nvSpPr>
        <ns0:spPr>
          <ns1:xfrm>
            <ns1:off x="4003113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234" name="Text 232"/>
          <ns0:cNvSpPr txBox="1"/>
          <ns0:nvPr/>
        </ns0:nvSpPr>
        <ns0:spPr>
          <ns1:xfrm>
            <ns1:off x="3728793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15</ns1:t>
            </ns1:r>
            <ns1:endParaRPr lang="en-US" sz="700" dirty="0"/>
          </ns1:p>
        </ns0:txBody>
      </ns0:sp>
      <ns0:sp>
        <ns0:nvSpPr>
          <ns0:cNvPr id="235" name="Shape 233"/>
          <ns0:cNvSpPr/>
          <ns0:nvPr/>
        </ns0:nvSpPr>
        <ns0:spPr>
          <ns1:xfrm>
            <ns1:off x="4175542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236" name="Text 234"/>
          <ns0:cNvSpPr txBox="1"/>
          <ns0:nvPr/>
        </ns0:nvSpPr>
        <ns0:spPr>
          <ns1:xfrm>
            <ns1:off x="3901222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20</ns1:t>
            </ns1:r>
            <ns1:endParaRPr lang="en-US" sz="700" dirty="0"/>
          </ns1:p>
        </ns0:txBody>
      </ns0:sp>
      <ns0:sp>
        <ns0:nvSpPr>
          <ns0:cNvPr id="237" name="Shape 235"/>
          <ns0:cNvSpPr/>
          <ns0:nvPr/>
        </ns0:nvSpPr>
        <ns0:spPr>
          <ns1:xfrm>
            <ns1:off x="4347972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238" name="Text 236"/>
          <ns0:cNvSpPr txBox="1"/>
          <ns0:nvPr/>
        </ns0:nvSpPr>
        <ns0:spPr>
          <ns1:xfrm>
            <ns1:off x="4073652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25</ns1:t>
            </ns1:r>
            <ns1:endParaRPr lang="en-US" sz="700" dirty="0"/>
          </ns1:p>
        </ns0:txBody>
      </ns0:sp>
      <ns0:sp>
        <ns0:nvSpPr>
          <ns0:cNvPr id="239" name="Shape 237"/>
          <ns0:cNvSpPr/>
          <ns0:nvPr/>
        </ns0:nvSpPr>
        <ns0:spPr>
          <ns1:xfrm>
            <ns1:off x="4520402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240" name="Text 238"/>
          <ns0:cNvSpPr txBox="1"/>
          <ns0:nvPr/>
        </ns0:nvSpPr>
        <ns0:spPr>
          <ns1:xfrm>
            <ns1:off x="4246082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30</ns1:t>
            </ns1:r>
            <ns1:endParaRPr lang="en-US" sz="700" dirty="0"/>
          </ns1:p>
        </ns0:txBody>
      </ns0:sp>
      <ns0:sp>
        <ns0:nvSpPr>
          <ns0:cNvPr id="241" name="Shape 239"/>
          <ns0:cNvSpPr/>
          <ns0:nvPr/>
        </ns0:nvSpPr>
        <ns0:spPr>
          <ns1:xfrm>
            <ns1:off x="4865261" y="905256"/>
            <ns1:ext cx="0" cy="27432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242" name="Text 240"/>
          <ns0:cNvSpPr txBox="1"/>
          <ns0:nvPr/>
        </ns0:nvSpPr>
        <ns0:spPr>
          <ns1:xfrm>
            <ns1:off x="4590941" y="937260"/>
            <ns1:ext cx="54864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40</ns1:t>
            </ns1:r>
            <ns1:endParaRPr lang="en-US" sz="700" dirty="0"/>
          </ns1:p>
        </ns0:txBody>
      </ns0:sp>
      <ns0:sp>
        <ns0:nvSpPr>
          <ns0:cNvPr id="243" name="Text 241"/>
          <ns0:cNvSpPr txBox="1"/>
          <ns0:nvPr/>
        </ns0:nvSpPr>
        <ns0:spPr>
          <ns1:xfrm>
            <ns1:off x="3561588" y="1051560"/>
            <ns1:ext cx="1572768" cy="118872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Frame rate (Hz)</ns1:t>
            </ns1:r>
            <ns1:endParaRPr lang="en-US" sz="750" dirty="0"/>
          </ns1:p>
        </ns0:txBody>
      </ns0:sp>
      <ns0:sp>
        <ns0:nvSpPr>
          <ns0:cNvPr id="244" name="Text 242"/>
          <ns0:cNvSpPr txBox="1"/>
          <ns0:nvPr/>
        </ns0:nvSpPr>
        <ns0:spPr>
          <ns1:xfrm rot="16200000">
            <ns1:off x="2930652" y="521894"/>
            <ns1:ext cx="1097280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Slot hold time (ms)</ns1:t>
            </ns1:r>
            <ns1:endParaRPr lang="en-US" sz="750" dirty="0"/>
          </ns1:p>
        </ns0:txBody>
      </ns0:sp>
      <ns0:sp>
        <ns0:nvSpPr>
          <ns0:cNvPr id="245" name="Text 243"/>
          <ns0:cNvSpPr txBox="1"/>
          <ns0:nvPr/>
        </ns0:nvSpPr>
        <ns0:spPr>
          <ns1:xfrm>
            <ns1:off x="3406140" y="1197864"/>
            <ns1:ext cx="1591056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(c) </ns1:t>
            </ns1:r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Slot hold time versus the period</ns1:t>
            </ns1:r>
            <ns1:endParaRPr lang="en-US" sz="750" dirty="0"/>
          </ns1:p>
        </ns0:txBody>
      </ns0:sp>
      <ns0:sp>
        <ns0:nvSpPr>
          <ns0:cNvPr id="246" name="Shape 244"/>
          <ns0:cNvSpPr/>
          <ns0:nvPr/>
        </ns0:nvSpPr>
        <ns0:spPr>
          <ns1:xfrm>
            <ns1:off x="5362956" y="785553"/>
            <ns1:ext cx="1078992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247" name="Shape 245"/>
          <ns0:cNvSpPr/>
          <ns0:nvPr/>
        </ns0:nvSpPr>
        <ns0:spPr>
          <ns1:xfrm>
            <ns1:off x="5362956" y="665849"/>
            <ns1:ext cx="1078992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248" name="Shape 246"/>
          <ns0:cNvSpPr/>
          <ns0:nvPr/>
        </ns0:nvSpPr>
        <ns0:spPr>
          <ns1:xfrm>
            <ns1:off x="5362956" y="546146"/>
            <ns1:ext cx="1078992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249" name="Shape 247"/>
          <ns0:cNvSpPr/>
          <ns0:nvPr/>
        </ns0:nvSpPr>
        <ns0:spPr>
          <ns1:xfrm>
            <ns1:off x="5362956" y="426443"/>
            <ns1:ext cx="1078992" cy="0"/>
          </ns1:xfrm>
          <ns1:prstGeom prst="line">
            <ns1:avLst/>
          </ns1:prstGeom>
          <ns1:noFill/>
          <ns1:ln w="6350">
            <ns1:solidFill>
              <ns1:srgbClr val="E4E4E4"/>
            </ns1:solidFill>
            <ns1:prstDash val="solid"/>
          </ns1:ln>
        </ns0:spPr>
      </ns0:sp>
      <ns0:sp>
        <ns0:nvSpPr>
          <ns0:cNvPr id="250" name="Shape 248"/>
          <ns0:cNvSpPr/>
          <ns0:nvPr/>
        </ns0:nvSpPr>
        <ns0:spPr>
          <ns1:xfrm>
            <ns1:off x="5437458" y="434756"/>
            <ns1:ext cx="128451" cy="470500"/>
          </ns1:xfrm>
          <ns1:prstGeom prst="rect">
            <ns1:avLst/>
          </ns1:prstGeom>
          <ns1:solidFill>
            <ns1:srgbClr val="4472C4"/>
          </ns1:solidFill>
          <ns1:ln/>
        </ns0:spPr>
      </ns0:sp>
      <ns0:sp>
        <ns0:nvSpPr>
          <ns0:cNvPr id="251" name="Shape 249"/>
          <ns0:cNvSpPr/>
          <ns0:nvPr/>
        </ns0:nvSpPr>
        <ns0:spPr>
          <ns1:xfrm>
            <ns1:off x="5437458" y="434756"/>
            <ns1:ext cx="128451" cy="470500"/>
          </ns1:xfrm>
          <ns1:prstGeom prst="rect">
            <ns1:avLst/>
          </ns1:prstGeom>
          <ns1:ln w="7620">
            <ns1:solidFill>
              <ns1:srgbClr val="2F5597"/>
            </ns1:solidFill>
            <ns1:prstDash val="solid"/>
          </ns1:ln>
        </ns0:spPr>
      </ns0:sp>
      <ns0:sp>
        <ns0:nvSpPr>
          <ns0:cNvPr id="252" name="Text 250"/>
          <ns0:cNvSpPr txBox="1"/>
          <ns0:nvPr/>
        </ns0:nvSpPr>
        <ns0:spPr>
          <ns1:xfrm rot="16200000">
            <ns1:off x="5318804" y="187868"/>
            <ns1:ext cx="36576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l" indent="0" marL="0">
              <ns1:buNone/>
            </ns1:pPr>
            <ns1:r>
              <ns1:rPr lang="en-US" sz="63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78.6</ns1:t>
            </ns1:r>
            <ns1:endParaRPr lang="en-US" sz="630" dirty="0"/>
          </ns1:p>
        </ns0:txBody>
      </ns0:sp>
      <ns0:sp>
        <ns0:nvSpPr>
          <ns0:cNvPr id="253" name="Shape 251"/>
          <ns0:cNvSpPr/>
          <ns0:nvPr/>
        </ns0:nvSpPr>
        <ns0:spPr>
          <ns1:xfrm>
            <ns1:off x="5581323" y="435085"/>
            <ns1:ext cx="128451" cy="470171"/>
          </ns1:xfrm>
          <ns1:prstGeom prst="rect">
            <ns1:avLst/>
          </ns1:prstGeom>
          <ns1:solidFill>
            <ns1:srgbClr val="FFFFFF"/>
          </ns1:solidFill>
          <ns1:ln/>
        </ns0:spPr>
      </ns0:sp>
      <ns0:sp>
        <ns0:nvSpPr>
          <ns0:cNvPr id="254" name="Shape 252"/>
          <ns0:cNvSpPr/>
          <ns0:nvPr/>
        </ns0:nvSpPr>
        <ns0:spPr>
          <ns1:xfrm flipV="1">
            <ns1:off x="5581323" y="435085"/>
            <ns1:ext cx="18288" cy="18288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55" name="Shape 253"/>
          <ns0:cNvSpPr/>
          <ns0:nvPr/>
        </ns0:nvSpPr>
        <ns0:spPr>
          <ns1:xfrm flipV="1">
            <ns1:off x="5581323" y="435085"/>
            <ns1:ext cx="54864" cy="548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56" name="Shape 254"/>
          <ns0:cNvSpPr/>
          <ns0:nvPr/>
        </ns0:nvSpPr>
        <ns0:spPr>
          <ns1:xfrm flipV="1">
            <ns1:off x="5581323" y="435085"/>
            <ns1:ext cx="91440" cy="91440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57" name="Shape 255"/>
          <ns0:cNvSpPr/>
          <ns0:nvPr/>
        </ns0:nvSpPr>
        <ns0:spPr>
          <ns1:xfrm flipV="1">
            <ns1:off x="5581323" y="435085"/>
            <ns1:ext cx="128016" cy="128016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58" name="Shape 256"/>
          <ns0:cNvSpPr/>
          <ns0:nvPr/>
        </ns0:nvSpPr>
        <ns0:spPr>
          <ns1:xfrm flipV="1">
            <ns1:off x="5581323" y="471226"/>
            <ns1:ext cx="128451" cy="128451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59" name="Shape 257"/>
          <ns0:cNvSpPr/>
          <ns0:nvPr/>
        </ns0:nvSpPr>
        <ns0:spPr>
          <ns1:xfrm flipV="1">
            <ns1:off x="5581323" y="507802"/>
            <ns1:ext cx="128451" cy="128451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60" name="Shape 258"/>
          <ns0:cNvSpPr/>
          <ns0:nvPr/>
        </ns0:nvSpPr>
        <ns0:spPr>
          <ns1:xfrm flipV="1">
            <ns1:off x="5581323" y="544378"/>
            <ns1:ext cx="128451" cy="128451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61" name="Shape 259"/>
          <ns0:cNvSpPr/>
          <ns0:nvPr/>
        </ns0:nvSpPr>
        <ns0:spPr>
          <ns1:xfrm flipV="1">
            <ns1:off x="5581323" y="580954"/>
            <ns1:ext cx="128451" cy="128451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62" name="Shape 260"/>
          <ns0:cNvSpPr/>
          <ns0:nvPr/>
        </ns0:nvSpPr>
        <ns0:spPr>
          <ns1:xfrm flipV="1">
            <ns1:off x="5581323" y="617530"/>
            <ns1:ext cx="128451" cy="128451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63" name="Shape 261"/>
          <ns0:cNvSpPr/>
          <ns0:nvPr/>
        </ns0:nvSpPr>
        <ns0:spPr>
          <ns1:xfrm flipV="1">
            <ns1:off x="5581323" y="654106"/>
            <ns1:ext cx="128451" cy="128451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64" name="Shape 262"/>
          <ns0:cNvSpPr/>
          <ns0:nvPr/>
        </ns0:nvSpPr>
        <ns0:spPr>
          <ns1:xfrm flipV="1">
            <ns1:off x="5581323" y="690682"/>
            <ns1:ext cx="128451" cy="128451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65" name="Shape 263"/>
          <ns0:cNvSpPr/>
          <ns0:nvPr/>
        </ns0:nvSpPr>
        <ns0:spPr>
          <ns1:xfrm flipV="1">
            <ns1:off x="5581323" y="727258"/>
            <ns1:ext cx="128451" cy="128451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66" name="Shape 264"/>
          <ns0:cNvSpPr/>
          <ns0:nvPr/>
        </ns0:nvSpPr>
        <ns0:spPr>
          <ns1:xfrm flipV="1">
            <ns1:off x="5581323" y="763834"/>
            <ns1:ext cx="128451" cy="128451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67" name="Shape 265"/>
          <ns0:cNvSpPr/>
          <ns0:nvPr/>
        </ns0:nvSpPr>
        <ns0:spPr>
          <ns1:xfrm flipV="1">
            <ns1:off x="5604929" y="800410"/>
            <ns1:ext cx="104846" cy="104846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68" name="Shape 266"/>
          <ns0:cNvSpPr/>
          <ns0:nvPr/>
        </ns0:nvSpPr>
        <ns0:spPr>
          <ns1:xfrm flipV="1">
            <ns1:off x="5641505" y="836986"/>
            <ns1:ext cx="68270" cy="68270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69" name="Shape 267"/>
          <ns0:cNvSpPr/>
          <ns0:nvPr/>
        </ns0:nvSpPr>
        <ns0:spPr>
          <ns1:xfrm flipV="1">
            <ns1:off x="5678081" y="873562"/>
            <ns1:ext cx="31694" cy="3169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70" name="Shape 268"/>
          <ns0:cNvSpPr/>
          <ns0:nvPr/>
        </ns0:nvSpPr>
        <ns0:spPr>
          <ns1:xfrm>
            <ns1:off x="5581323" y="435085"/>
            <ns1:ext cx="128451" cy="470171"/>
          </ns1:xfrm>
          <ns1:prstGeom prst="rect">
            <ns1:avLst/>
          </ns1:prstGeom>
          <ns1:ln w="7620">
            <ns1:solidFill>
              <ns1:srgbClr val="C55A11"/>
            </ns1:solidFill>
            <ns1:prstDash val="solid"/>
          </ns1:ln>
        </ns0:spPr>
      </ns0:sp>
      <ns0:sp>
        <ns0:nvSpPr>
          <ns0:cNvPr id="271" name="Text 269"/>
          <ns0:cNvSpPr txBox="1"/>
          <ns0:nvPr/>
        </ns0:nvSpPr>
        <ns0:spPr>
          <ns1:xfrm rot="16200000">
            <ns1:off x="5462669" y="188197"/>
            <ns1:ext cx="36576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l" indent="0" marL="0">
              <ns1:buNone/>
            </ns1:pPr>
            <ns1:r>
              <ns1:rPr lang="en-US" sz="63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78.6</ns1:t>
            </ns1:r>
            <ns1:endParaRPr lang="en-US" sz="630" dirty="0"/>
          </ns1:p>
        </ns0:txBody>
      </ns0:sp>
      <ns0:sp>
        <ns0:nvSpPr>
          <ns0:cNvPr id="272" name="Shape 270"/>
          <ns0:cNvSpPr/>
          <ns0:nvPr/>
        </ns0:nvSpPr>
        <ns0:spPr>
          <ns1:xfrm>
            <ns1:off x="5725189" y="546481"/>
            <ns1:ext cx="128451" cy="358775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273" name="Shape 271"/>
          <ns0:cNvSpPr/>
          <ns0:nvPr/>
        </ns0:nvSpPr>
        <ns0:spPr>
          <ns1:xfrm>
            <ns1:off x="5725189" y="886968"/>
            <ns1:ext cx="18288" cy="18288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74" name="Shape 272"/>
          <ns0:cNvSpPr/>
          <ns0:nvPr/>
        </ns0:nvSpPr>
        <ns0:spPr>
          <ns1:xfrm>
            <ns1:off x="5725189" y="850392"/>
            <ns1:ext cx="54864" cy="548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75" name="Shape 273"/>
          <ns0:cNvSpPr/>
          <ns0:nvPr/>
        </ns0:nvSpPr>
        <ns0:spPr>
          <ns1:xfrm>
            <ns1:off x="5725189" y="813816"/>
            <ns1:ext cx="91440" cy="91440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76" name="Shape 274"/>
          <ns0:cNvSpPr/>
          <ns0:nvPr/>
        </ns0:nvSpPr>
        <ns0:spPr>
          <ns1:xfrm>
            <ns1:off x="5725189" y="777240"/>
            <ns1:ext cx="128016" cy="128016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77" name="Shape 275"/>
          <ns0:cNvSpPr/>
          <ns0:nvPr/>
        </ns0:nvSpPr>
        <ns0:spPr>
          <ns1:xfrm>
            <ns1:off x="5725189" y="740664"/>
            <ns1:ext cx="128451" cy="128451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78" name="Shape 276"/>
          <ns0:cNvSpPr/>
          <ns0:nvPr/>
        </ns0:nvSpPr>
        <ns0:spPr>
          <ns1:xfrm>
            <ns1:off x="5725189" y="704088"/>
            <ns1:ext cx="128451" cy="128451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79" name="Shape 277"/>
          <ns0:cNvSpPr/>
          <ns0:nvPr/>
        </ns0:nvSpPr>
        <ns0:spPr>
          <ns1:xfrm>
            <ns1:off x="5725189" y="667512"/>
            <ns1:ext cx="128451" cy="128451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80" name="Shape 278"/>
          <ns0:cNvSpPr/>
          <ns0:nvPr/>
        </ns0:nvSpPr>
        <ns0:spPr>
          <ns1:xfrm>
            <ns1:off x="5725189" y="630936"/>
            <ns1:ext cx="128451" cy="128451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81" name="Shape 279"/>
          <ns0:cNvSpPr/>
          <ns0:nvPr/>
        </ns0:nvSpPr>
        <ns0:spPr>
          <ns1:xfrm>
            <ns1:off x="5725189" y="594360"/>
            <ns1:ext cx="128451" cy="128451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82" name="Shape 280"/>
          <ns0:cNvSpPr/>
          <ns0:nvPr/>
        </ns0:nvSpPr>
        <ns0:spPr>
          <ns1:xfrm>
            <ns1:off x="5725189" y="557784"/>
            <ns1:ext cx="128451" cy="128451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83" name="Shape 281"/>
          <ns0:cNvSpPr/>
          <ns0:nvPr/>
        </ns0:nvSpPr>
        <ns0:spPr>
          <ns1:xfrm>
            <ns1:off x="5750462" y="546481"/>
            <ns1:ext cx="103178" cy="103178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84" name="Shape 282"/>
          <ns0:cNvSpPr/>
          <ns0:nvPr/>
        </ns0:nvSpPr>
        <ns0:spPr>
          <ns1:xfrm>
            <ns1:off x="5787038" y="546481"/>
            <ns1:ext cx="66602" cy="66602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85" name="Shape 283"/>
          <ns0:cNvSpPr/>
          <ns0:nvPr/>
        </ns0:nvSpPr>
        <ns0:spPr>
          <ns1:xfrm>
            <ns1:off x="5823614" y="546481"/>
            <ns1:ext cx="30026" cy="30026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286" name="Shape 284"/>
          <ns0:cNvSpPr/>
          <ns0:nvPr/>
        </ns0:nvSpPr>
        <ns0:spPr>
          <ns1:xfrm>
            <ns1:off x="5725189" y="546481"/>
            <ns1:ext cx="128451" cy="358775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287" name="Text 285"/>
          <ns0:cNvSpPr txBox="1"/>
          <ns0:nvPr/>
        </ns0:nvSpPr>
        <ns0:spPr>
          <ns1:xfrm rot="16200000">
            <ns1:off x="5606535" y="299593"/>
            <ns1:ext cx="36576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l" indent="0" marL="0">
              <ns1:buNone/>
            </ns1:pPr>
            <ns1:r>
              <ns1:rPr lang="en-US" sz="63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59.9</ns1:t>
            </ns1:r>
            <ns1:endParaRPr lang="en-US" sz="630" dirty="0"/>
          </ns1:p>
        </ns0:txBody>
      </ns0:sp>
      <ns0:sp>
        <ns0:nvSpPr>
          <ns0:cNvPr id="288" name="Shape 286"/>
          <ns0:cNvSpPr/>
          <ns0:nvPr/>
        </ns0:nvSpPr>
        <ns0:spPr>
          <ns1:xfrm>
            <ns1:off x="5951264" y="546146"/>
            <ns1:ext cx="128451" cy="359110"/>
          </ns1:xfrm>
          <ns1:prstGeom prst="rect">
            <ns1:avLst/>
          </ns1:prstGeom>
          <ns1:solidFill>
            <ns1:srgbClr val="4472C4"/>
          </ns1:solidFill>
          <ns1:ln/>
        </ns0:spPr>
      </ns0:sp>
      <ns0:sp>
        <ns0:nvSpPr>
          <ns0:cNvPr id="289" name="Shape 287"/>
          <ns0:cNvSpPr/>
          <ns0:nvPr/>
        </ns0:nvSpPr>
        <ns0:spPr>
          <ns1:xfrm>
            <ns1:off x="5951264" y="546146"/>
            <ns1:ext cx="128451" cy="359110"/>
          </ns1:xfrm>
          <ns1:prstGeom prst="rect">
            <ns1:avLst/>
          </ns1:prstGeom>
          <ns1:ln w="7620">
            <ns1:solidFill>
              <ns1:srgbClr val="2F5597"/>
            </ns1:solidFill>
            <ns1:prstDash val="solid"/>
          </ns1:ln>
        </ns0:spPr>
      </ns0:sp>
      <ns0:sp>
        <ns0:nvSpPr>
          <ns0:cNvPr id="290" name="Text 288"/>
          <ns0:cNvSpPr txBox="1"/>
          <ns0:nvPr/>
        </ns0:nvSpPr>
        <ns0:spPr>
          <ns1:xfrm rot="16200000">
            <ns1:off x="5832609" y="299258"/>
            <ns1:ext cx="36576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l" indent="0" marL="0">
              <ns1:buNone/>
            </ns1:pPr>
            <ns1:r>
              <ns1:rPr lang="en-US" sz="63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60.0</ns1:t>
            </ns1:r>
            <ns1:endParaRPr lang="en-US" sz="630" dirty="0"/>
          </ns1:p>
        </ns0:txBody>
      </ns0:sp>
      <ns0:sp>
        <ns0:nvSpPr>
          <ns0:cNvPr id="291" name="Shape 289"/>
          <ns0:cNvSpPr/>
          <ns0:nvPr/>
        </ns0:nvSpPr>
        <ns0:spPr>
          <ns1:xfrm>
            <ns1:off x="6095129" y="546146"/>
            <ns1:ext cx="128451" cy="359110"/>
          </ns1:xfrm>
          <ns1:prstGeom prst="rect">
            <ns1:avLst/>
          </ns1:prstGeom>
          <ns1:solidFill>
            <ns1:srgbClr val="FFFFFF"/>
          </ns1:solidFill>
          <ns1:ln/>
        </ns0:spPr>
      </ns0:sp>
      <ns0:sp>
        <ns0:nvSpPr>
          <ns0:cNvPr id="292" name="Shape 290"/>
          <ns0:cNvSpPr/>
          <ns0:nvPr/>
        </ns0:nvSpPr>
        <ns0:spPr>
          <ns1:xfrm flipV="1">
            <ns1:off x="6095129" y="546146"/>
            <ns1:ext cx="18288" cy="18288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93" name="Shape 291"/>
          <ns0:cNvSpPr/>
          <ns0:nvPr/>
        </ns0:nvSpPr>
        <ns0:spPr>
          <ns1:xfrm flipV="1">
            <ns1:off x="6095129" y="546146"/>
            <ns1:ext cx="54864" cy="54864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94" name="Shape 292"/>
          <ns0:cNvSpPr/>
          <ns0:nvPr/>
        </ns0:nvSpPr>
        <ns0:spPr>
          <ns1:xfrm flipV="1">
            <ns1:off x="6095129" y="546146"/>
            <ns1:ext cx="91440" cy="91440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95" name="Shape 293"/>
          <ns0:cNvSpPr/>
          <ns0:nvPr/>
        </ns0:nvSpPr>
        <ns0:spPr>
          <ns1:xfrm flipV="1">
            <ns1:off x="6095129" y="546146"/>
            <ns1:ext cx="128016" cy="128016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96" name="Shape 294"/>
          <ns0:cNvSpPr/>
          <ns0:nvPr/>
        </ns0:nvSpPr>
        <ns0:spPr>
          <ns1:xfrm flipV="1">
            <ns1:off x="6095129" y="582287"/>
            <ns1:ext cx="128451" cy="128451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97" name="Shape 295"/>
          <ns0:cNvSpPr/>
          <ns0:nvPr/>
        </ns0:nvSpPr>
        <ns0:spPr>
          <ns1:xfrm flipV="1">
            <ns1:off x="6095129" y="618863"/>
            <ns1:ext cx="128451" cy="128451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98" name="Shape 296"/>
          <ns0:cNvSpPr/>
          <ns0:nvPr/>
        </ns0:nvSpPr>
        <ns0:spPr>
          <ns1:xfrm flipV="1">
            <ns1:off x="6095129" y="655439"/>
            <ns1:ext cx="128451" cy="128451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299" name="Shape 297"/>
          <ns0:cNvSpPr/>
          <ns0:nvPr/>
        </ns0:nvSpPr>
        <ns0:spPr>
          <ns1:xfrm flipV="1">
            <ns1:off x="6095129" y="692015"/>
            <ns1:ext cx="128451" cy="128451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300" name="Shape 298"/>
          <ns0:cNvSpPr/>
          <ns0:nvPr/>
        </ns0:nvSpPr>
        <ns0:spPr>
          <ns1:xfrm flipV="1">
            <ns1:off x="6095129" y="728591"/>
            <ns1:ext cx="128451" cy="128451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301" name="Shape 299"/>
          <ns0:cNvSpPr/>
          <ns0:nvPr/>
        </ns0:nvSpPr>
        <ns0:spPr>
          <ns1:xfrm flipV="1">
            <ns1:off x="6095129" y="765167"/>
            <ns1:ext cx="128451" cy="128451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302" name="Shape 300"/>
          <ns0:cNvSpPr/>
          <ns0:nvPr/>
        </ns0:nvSpPr>
        <ns0:spPr>
          <ns1:xfrm flipV="1">
            <ns1:off x="6120067" y="801743"/>
            <ns1:ext cx="103513" cy="103513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303" name="Shape 301"/>
          <ns0:cNvSpPr/>
          <ns0:nvPr/>
        </ns0:nvSpPr>
        <ns0:spPr>
          <ns1:xfrm flipV="1">
            <ns1:off x="6156643" y="838319"/>
            <ns1:ext cx="66937" cy="66937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304" name="Shape 302"/>
          <ns0:cNvSpPr/>
          <ns0:nvPr/>
        </ns0:nvSpPr>
        <ns0:spPr>
          <ns1:xfrm flipV="1">
            <ns1:off x="6193219" y="874895"/>
            <ns1:ext cx="30361" cy="30361"/>
          </ns1:xfrm>
          <ns1:prstGeom prst="line">
            <ns1:avLst/>
          </ns1:prstGeom>
          <ns1:noFill/>
          <ns1:ln w="5715">
            <ns1:solidFill>
              <ns1:srgbClr val="ED7D31"/>
            </ns1:solidFill>
            <ns1:prstDash val="solid"/>
          </ns1:ln>
        </ns0:spPr>
      </ns0:sp>
      <ns0:sp>
        <ns0:nvSpPr>
          <ns0:cNvPr id="305" name="Shape 303"/>
          <ns0:cNvSpPr/>
          <ns0:nvPr/>
        </ns0:nvSpPr>
        <ns0:spPr>
          <ns1:xfrm>
            <ns1:off x="6095129" y="546146"/>
            <ns1:ext cx="128451" cy="359110"/>
          </ns1:xfrm>
          <ns1:prstGeom prst="rect">
            <ns1:avLst/>
          </ns1:prstGeom>
          <ns1:ln w="7620">
            <ns1:solidFill>
              <ns1:srgbClr val="C55A11"/>
            </ns1:solidFill>
            <ns1:prstDash val="solid"/>
          </ns1:ln>
        </ns0:spPr>
      </ns0:sp>
      <ns0:sp>
        <ns0:nvSpPr>
          <ns0:cNvPr id="306" name="Text 304"/>
          <ns0:cNvSpPr txBox="1"/>
          <ns0:nvPr/>
        </ns0:nvSpPr>
        <ns0:spPr>
          <ns1:xfrm rot="16200000">
            <ns1:off x="5976475" y="299258"/>
            <ns1:ext cx="36576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l" indent="0" marL="0">
              <ns1:buNone/>
            </ns1:pPr>
            <ns1:r>
              <ns1:rPr lang="en-US" sz="63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60.0</ns1:t>
            </ns1:r>
            <ns1:endParaRPr lang="en-US" sz="630" dirty="0"/>
          </ns1:p>
        </ns0:txBody>
      </ns0:sp>
      <ns0:sp>
        <ns0:nvSpPr>
          <ns0:cNvPr id="307" name="Shape 305"/>
          <ns0:cNvSpPr/>
          <ns0:nvPr/>
        </ns0:nvSpPr>
        <ns0:spPr>
          <ns1:xfrm>
            <ns1:off x="6238995" y="546146"/>
            <ns1:ext cx="128451" cy="359110"/>
          </ns1:xfrm>
          <ns1:prstGeom prst="rect">
            <ns1:avLst/>
          </ns1:prstGeom>
          <ns1:solidFill>
            <ns1:srgbClr val="D9D9D9"/>
          </ns1:solidFill>
          <ns1:ln/>
        </ns0:spPr>
      </ns0:sp>
      <ns0:sp>
        <ns0:nvSpPr>
          <ns0:cNvPr id="308" name="Shape 306"/>
          <ns0:cNvSpPr/>
          <ns0:nvPr/>
        </ns0:nvSpPr>
        <ns0:spPr>
          <ns1:xfrm>
            <ns1:off x="6238995" y="886968"/>
            <ns1:ext cx="18288" cy="18288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09" name="Shape 307"/>
          <ns0:cNvSpPr/>
          <ns0:nvPr/>
        </ns0:nvSpPr>
        <ns0:spPr>
          <ns1:xfrm>
            <ns1:off x="6238995" y="850392"/>
            <ns1:ext cx="54864" cy="54864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10" name="Shape 308"/>
          <ns0:cNvSpPr/>
          <ns0:nvPr/>
        </ns0:nvSpPr>
        <ns0:spPr>
          <ns1:xfrm>
            <ns1:off x="6238995" y="813816"/>
            <ns1:ext cx="91440" cy="91440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11" name="Shape 309"/>
          <ns0:cNvSpPr/>
          <ns0:nvPr/>
        </ns0:nvSpPr>
        <ns0:spPr>
          <ns1:xfrm>
            <ns1:off x="6238995" y="777240"/>
            <ns1:ext cx="128016" cy="128016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12" name="Shape 310"/>
          <ns0:cNvSpPr/>
          <ns0:nvPr/>
        </ns0:nvSpPr>
        <ns0:spPr>
          <ns1:xfrm>
            <ns1:off x="6238995" y="740664"/>
            <ns1:ext cx="128451" cy="128451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13" name="Shape 311"/>
          <ns0:cNvSpPr/>
          <ns0:nvPr/>
        </ns0:nvSpPr>
        <ns0:spPr>
          <ns1:xfrm>
            <ns1:off x="6238995" y="704088"/>
            <ns1:ext cx="128451" cy="128451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14" name="Shape 312"/>
          <ns0:cNvSpPr/>
          <ns0:nvPr/>
        </ns0:nvSpPr>
        <ns0:spPr>
          <ns1:xfrm>
            <ns1:off x="6238995" y="667512"/>
            <ns1:ext cx="128451" cy="128451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15" name="Shape 313"/>
          <ns0:cNvSpPr/>
          <ns0:nvPr/>
        </ns0:nvSpPr>
        <ns0:spPr>
          <ns1:xfrm>
            <ns1:off x="6238995" y="630936"/>
            <ns1:ext cx="128451" cy="128451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16" name="Shape 314"/>
          <ns0:cNvSpPr/>
          <ns0:nvPr/>
        </ns0:nvSpPr>
        <ns0:spPr>
          <ns1:xfrm>
            <ns1:off x="6238995" y="594360"/>
            <ns1:ext cx="128451" cy="128451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17" name="Shape 315"/>
          <ns0:cNvSpPr/>
          <ns0:nvPr/>
        </ns0:nvSpPr>
        <ns0:spPr>
          <ns1:xfrm>
            <ns1:off x="6238995" y="557784"/>
            <ns1:ext cx="128451" cy="128451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18" name="Shape 316"/>
          <ns0:cNvSpPr/>
          <ns0:nvPr/>
        </ns0:nvSpPr>
        <ns0:spPr>
          <ns1:xfrm>
            <ns1:off x="6263933" y="546146"/>
            <ns1:ext cx="103513" cy="103513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19" name="Shape 317"/>
          <ns0:cNvSpPr/>
          <ns0:nvPr/>
        </ns0:nvSpPr>
        <ns0:spPr>
          <ns1:xfrm>
            <ns1:off x="6300509" y="546146"/>
            <ns1:ext cx="66937" cy="66937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20" name="Shape 318"/>
          <ns0:cNvSpPr/>
          <ns0:nvPr/>
        </ns0:nvSpPr>
        <ns0:spPr>
          <ns1:xfrm>
            <ns1:off x="6337085" y="546146"/>
            <ns1:ext cx="30361" cy="30361"/>
          </ns1:xfrm>
          <ns1:prstGeom prst="line">
            <ns1:avLst/>
          </ns1:prstGeom>
          <ns1:noFill/>
          <ns1:ln w="5715">
            <ns1:solidFill>
              <ns1:srgbClr val="7F7F7F"/>
            </ns1:solidFill>
            <ns1:prstDash val="solid"/>
          </ns1:ln>
        </ns0:spPr>
      </ns0:sp>
      <ns0:sp>
        <ns0:nvSpPr>
          <ns0:cNvPr id="321" name="Shape 319"/>
          <ns0:cNvSpPr/>
          <ns0:nvPr/>
        </ns0:nvSpPr>
        <ns0:spPr>
          <ns1:xfrm>
            <ns1:off x="6238995" y="546146"/>
            <ns1:ext cx="128451" cy="359110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322" name="Text 320"/>
          <ns0:cNvSpPr txBox="1"/>
          <ns0:nvPr/>
        </ns0:nvSpPr>
        <ns0:spPr>
          <ns1:xfrm rot="16200000">
            <ns1:off x="6120340" y="299258"/>
            <ns1:ext cx="365760" cy="9144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l" indent="0" marL="0">
              <ns1:buNone/>
            </ns1:pPr>
            <ns1:r>
              <ns1:rPr lang="en-US" sz="63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60.0</ns1:t>
            </ns1:r>
            <ns1:endParaRPr lang="en-US" sz="630" dirty="0"/>
          </ns1:p>
        </ns0:txBody>
      </ns0:sp>
      <ns0:sp>
        <ns0:nvSpPr>
          <ns0:cNvPr id="323" name="Shape 321"/>
          <ns0:cNvSpPr/>
          <ns0:nvPr/>
        </ns0:nvSpPr>
        <ns0:spPr>
          <ns1:xfrm>
            <ns1:off x="5362956" y="246888"/>
            <ns1:ext cx="1078992" cy="658368"/>
          </ns1:xfrm>
          <ns1:prstGeom prst="rect">
            <ns1:avLst/>
          </ns1:prstGeom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324" name="Shape 322"/>
          <ns0:cNvSpPr/>
          <ns0:nvPr/>
        </ns0:nvSpPr>
        <ns0:spPr>
          <ns1:xfrm>
            <ns1:off x="5335524" y="905256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325" name="Text 323"/>
          <ns0:cNvSpPr txBox="1"/>
          <ns0:nvPr/>
        </ns0:nvSpPr>
        <ns0:spPr>
          <ns1:xfrm>
            <ns1:off x="4951476" y="850392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0</ns1:t>
            </ns1:r>
            <ns1:endParaRPr lang="en-US" sz="700" dirty="0"/>
          </ns1:p>
        </ns0:txBody>
      </ns0:sp>
      <ns0:sp>
        <ns0:nvSpPr>
          <ns0:cNvPr id="326" name="Shape 324"/>
          <ns0:cNvSpPr/>
          <ns0:nvPr/>
        </ns0:nvSpPr>
        <ns0:spPr>
          <ns1:xfrm>
            <ns1:off x="5335524" y="785553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327" name="Text 325"/>
          <ns0:cNvSpPr txBox="1"/>
          <ns0:nvPr/>
        </ns0:nvSpPr>
        <ns0:spPr>
          <ns1:xfrm>
            <ns1:off x="4951476" y="730689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20</ns1:t>
            </ns1:r>
            <ns1:endParaRPr lang="en-US" sz="700" dirty="0"/>
          </ns1:p>
        </ns0:txBody>
      </ns0:sp>
      <ns0:sp>
        <ns0:nvSpPr>
          <ns0:cNvPr id="328" name="Shape 326"/>
          <ns0:cNvSpPr/>
          <ns0:nvPr/>
        </ns0:nvSpPr>
        <ns0:spPr>
          <ns1:xfrm>
            <ns1:off x="5335524" y="665849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329" name="Text 327"/>
          <ns0:cNvSpPr txBox="1"/>
          <ns0:nvPr/>
        </ns0:nvSpPr>
        <ns0:spPr>
          <ns1:xfrm>
            <ns1:off x="4951476" y="610985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40</ns1:t>
            </ns1:r>
            <ns1:endParaRPr lang="en-US" sz="700" dirty="0"/>
          </ns1:p>
        </ns0:txBody>
      </ns0:sp>
      <ns0:sp>
        <ns0:nvSpPr>
          <ns0:cNvPr id="330" name="Shape 328"/>
          <ns0:cNvSpPr/>
          <ns0:nvPr/>
        </ns0:nvSpPr>
        <ns0:spPr>
          <ns1:xfrm>
            <ns1:off x="5335524" y="546146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331" name="Text 329"/>
          <ns0:cNvSpPr txBox="1"/>
          <ns0:nvPr/>
        </ns0:nvSpPr>
        <ns0:spPr>
          <ns1:xfrm>
            <ns1:off x="4951476" y="491282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60</ns1:t>
            </ns1:r>
            <ns1:endParaRPr lang="en-US" sz="700" dirty="0"/>
          </ns1:p>
        </ns0:txBody>
      </ns0:sp>
      <ns0:sp>
        <ns0:nvSpPr>
          <ns0:cNvPr id="332" name="Shape 330"/>
          <ns0:cNvSpPr/>
          <ns0:nvPr/>
        </ns0:nvSpPr>
        <ns0:spPr>
          <ns1:xfrm>
            <ns1:off x="5335524" y="426443"/>
            <ns1:ext cx="27432" cy="0"/>
          </ns1:xfrm>
          <ns1:prstGeom prst="line">
            <ns1:avLst/>
          </ns1:prstGeom>
          <ns1:noFill/>
          <ns1:ln w="7620">
            <ns1:solidFill>
              <ns1:srgbClr val="404040"/>
            </ns1:solidFill>
            <ns1:prstDash val="solid"/>
          </ns1:ln>
        </ns0:spPr>
      </ns0:sp>
      <ns0:sp>
        <ns0:nvSpPr>
          <ns0:cNvPr id="333" name="Text 331"/>
          <ns0:cNvSpPr txBox="1"/>
          <ns0:nvPr/>
        </ns0:nvSpPr>
        <ns0:spPr>
          <ns1:xfrm>
            <ns1:off x="4951476" y="371579"/>
            <ns1:ext cx="365760" cy="109728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r" indent="0" marL="0"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80</ns1:t>
            </ns1:r>
            <ns1:endParaRPr lang="en-US" sz="700" dirty="0"/>
          </ns1:p>
        </ns0:txBody>
      </ns0:sp>
      <ns0:sp>
        <ns0:nvSpPr>
          <ns0:cNvPr id="334" name="Text 332"/>
          <ns0:cNvSpPr txBox="1"/>
          <ns0:nvPr/>
        </ns0:nvSpPr>
        <ns0:spPr>
          <ns1:xfrm rot="16200000">
            <ns1:off x="4549140" y="512064"/>
            <ns1:ext cx="1097280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Timely results/s</ns1:t>
            </ns1:r>
            <ns1:endParaRPr lang="en-US" sz="750" dirty="0"/>
          </ns1:p>
        </ns0:txBody>
      </ns0:sp>
      <ns0:sp>
        <ns0:nvSpPr>
          <ns0:cNvPr id="335" name="Text 333"/>
          <ns0:cNvSpPr txBox="1"/>
          <ns0:nvPr/>
        </ns0:nvSpPr>
        <ns0:spPr>
          <ns1:xfrm>
            <ns1:off x="5279789" y="923544"/>
            <ns1:ext cx="731520" cy="2103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lnSpc>
                <ns1:spcPct val="90000"/>
              </ns1:lnSpc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base head</ns1:t>
            </ns1:r>
            <ns1:endParaRPr lang="en-US" sz="700" dirty="0"/>
          </ns1:p>
          <ns1:p>
            <ns1:pPr algn="ctr" indent="0" marL="0">
              <ns1:lnSpc>
                <ns1:spcPct val="90000"/>
              </ns1:lnSpc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(op 1/287)</ns1:t>
            </ns1:r>
            <ns1:endParaRPr lang="en-US" sz="700" dirty="0"/>
          </ns1:p>
        </ns0:txBody>
      </ns0:sp>
      <ns0:sp>
        <ns0:nvSpPr>
          <ns0:cNvPr id="336" name="Text 334"/>
          <ns0:cNvSpPr txBox="1"/>
          <ns0:nvPr/>
        </ns0:nvSpPr>
        <ns0:spPr>
          <ns1:xfrm>
            <ns1:off x="5793595" y="923544"/>
            <ns1:ext cx="731520" cy="2103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lnSpc>
                <ns1:spcPct val="90000"/>
              </ns1:lnSpc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late read</ns1:t>
            </ns1:r>
            <ns1:endParaRPr lang="en-US" sz="700" dirty="0"/>
          </ns1:p>
          <ns1:p>
            <ns1:pPr algn="ctr" indent="0" marL="0">
              <ns1:lnSpc>
                <ns1:spcPct val="90000"/>
              </ns1:lnSpc>
              <ns1:buNone/>
            </ns1:pPr>
            <ns1:r>
              <ns1:rPr lang="en-US" sz="70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(op 288/289)</ns1:t>
            </ns1:r>
            <ns1:endParaRPr lang="en-US" sz="700" dirty="0"/>
          </ns1:p>
        </ns0:txBody>
      </ns0:sp>
      <ns0:sp>
        <ns0:nvSpPr>
          <ns0:cNvPr id="337" name="Text 335"/>
          <ns0:cNvSpPr txBox="1"/>
          <ns0:nvPr/>
        </ns0:nvSpPr>
        <ns0:spPr>
          <ns1:xfrm>
            <ns1:off x="5024628" y="1197864"/>
            <ns1:ext cx="1463040" cy="128016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/>
          <ns1:lstStyle/>
          <ns1:p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(d) </ns1:t>
            </ns1:r>
            <ns1:pPr algn="ctr" indent="0" marL="0">
              <ns1:buNone/>
            </ns1:pPr>
            <ns1:r>
              <ns1:rPr lang="en-US" sz="750" dirty="0">
                <ns1:solidFill>
                  <ns1:srgbClr val="000000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Early vs. late last read (30 Hz)</ns1:t>
            </ns1:r>
            <ns1:endParaRPr lang="en-US" sz="750" dirty="0"/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fig5_delivery</dc:title>
  <dc:subject>ISPA r15: regenerated from r14 source coordinates and unchanged data</dc:subject>
  <dc:creator>ReadSeal authors</dc:creator>
  <cp:lastModifiedBy>ReadSeal authors</cp:lastModifiedBy>
  <cp:revision>1</cp:revision>
  <dcterms:created xsi:type="dcterms:W3CDTF">2026-09-29T11:55:40Z</dcterms:created>
  <dcterms:modified xsi:type="dcterms:W3CDTF">2026-09-29T11:55:40Z</dcterms:modified>
</cp:coreProperties>
</file>