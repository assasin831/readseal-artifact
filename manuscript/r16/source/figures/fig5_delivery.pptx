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492240" cy="1344168"/>
  <p:notesSz cx="1344168" cy="64922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7611" y="13716"/>
            <a:ext cx="5877019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1619" y="50292"/>
            <a:ext cx="100584" cy="8229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Shape 2"/>
          <p:cNvSpPr/>
          <p:nvPr/>
        </p:nvSpPr>
        <p:spPr>
          <a:xfrm>
            <a:off x="371619" y="50292"/>
            <a:ext cx="100584" cy="82296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635" y="91440"/>
            <a:ext cx="146304" cy="914"/>
          </a:xfrm>
          <a:custGeom>
            <a:avLst/>
            <a:gdLst/>
            <a:ahLst/>
            <a:cxnLst/>
            <a:rect l="l" t="t" r="r" b="b"/>
            <a:pathLst>
              <a:path w="146304" h="914">
                <a:moveTo>
                  <a:pt x="0" y="0"/>
                </a:moveTo>
                <a:lnTo>
                  <a:pt x="146304" y="0"/>
                </a:lnTo>
              </a:path>
            </a:pathLst>
          </a:custGeom>
          <a:ln w="13970">
            <a:solidFill>
              <a:srgbClr val="447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641" y="66294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7087" y="27432"/>
            <a:ext cx="59079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+ ReadSeal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351037" y="50292"/>
            <a:ext cx="100584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351037" y="50292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351037" y="50292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360181" y="50292"/>
            <a:ext cx="82296" cy="8229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396757" y="77724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433333" y="114300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51037" y="50292"/>
            <a:ext cx="100584" cy="82296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79053" y="91440"/>
            <a:ext cx="146304" cy="914"/>
          </a:xfrm>
          <a:custGeom>
            <a:avLst/>
            <a:gdLst/>
            <a:ahLst/>
            <a:cxnLst/>
            <a:rect l="l" t="t" r="r" b="b"/>
            <a:pathLst>
              <a:path w="146304" h="914">
                <a:moveTo>
                  <a:pt x="0" y="0"/>
                </a:moveTo>
                <a:lnTo>
                  <a:pt x="146304" y="0"/>
                </a:lnTo>
              </a:path>
            </a:pathLst>
          </a:custGeom>
          <a:ln w="13970">
            <a:solidFill>
              <a:srgbClr val="ED7D3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519515" y="58750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66505" y="27432"/>
            <a:ext cx="31285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2052514" y="50292"/>
            <a:ext cx="100584" cy="8229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2514" y="114300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2514" y="77724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61658" y="50292"/>
            <a:ext cx="82296" cy="8229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98234" y="50292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34810" y="50292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2514" y="50292"/>
            <a:ext cx="100584" cy="82296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80530" y="91440"/>
            <a:ext cx="146304" cy="914"/>
          </a:xfrm>
          <a:custGeom>
            <a:avLst/>
            <a:gdLst/>
            <a:ahLst/>
            <a:cxnLst/>
            <a:rect l="l" t="t" r="r" b="b"/>
            <a:pathLst>
              <a:path w="146304" h="914">
                <a:moveTo>
                  <a:pt x="0" y="0"/>
                </a:moveTo>
                <a:lnTo>
                  <a:pt x="146304" y="0"/>
                </a:lnTo>
              </a:path>
            </a:pathLst>
          </a:custGeom>
          <a:ln w="13970">
            <a:solidFill>
              <a:srgbClr val="7F7F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31051" y="68809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67982" y="27432"/>
            <a:ext cx="51995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retention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2961092" y="50292"/>
            <a:ext cx="219456" cy="82296"/>
          </a:xfrm>
          <a:prstGeom prst="rect">
            <a:avLst/>
          </a:prstGeom>
          <a:solidFill>
            <a:srgbClr val="BDD7E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221696" y="27432"/>
            <a:ext cx="880061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hold, 5th–95th pct.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174909" y="91440"/>
            <a:ext cx="274320" cy="914"/>
          </a:xfrm>
          <a:custGeom>
            <a:avLst/>
            <a:gdLst/>
            <a:ahLst/>
            <a:cxnLst/>
            <a:rect l="l" t="t" r="r" b="b"/>
            <a:pathLst>
              <a:path w="274320" h="914">
                <a:moveTo>
                  <a:pt x="0" y="0"/>
                </a:moveTo>
                <a:lnTo>
                  <a:pt x="274320" y="0"/>
                </a:lnTo>
              </a:path>
            </a:pathLst>
          </a:custGeom>
          <a:ln w="10160">
            <a:solidFill>
              <a:srgbClr val="404040"/>
            </a:solidFill>
            <a:prstDash val="sysDot"/>
          </a:ln>
        </p:spPr>
      </p:sp>
      <p:sp>
        <p:nvSpPr>
          <p:cNvPr id="31" name="Text 29"/>
          <p:cNvSpPr txBox="1"/>
          <p:nvPr/>
        </p:nvSpPr>
        <p:spPr>
          <a:xfrm>
            <a:off x="4490377" y="27432"/>
            <a:ext cx="77860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load / period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342134" y="91440"/>
            <a:ext cx="274320" cy="914"/>
          </a:xfrm>
          <a:custGeom>
            <a:avLst/>
            <a:gdLst/>
            <a:ahLst/>
            <a:cxnLst/>
            <a:rect l="l" t="t" r="r" b="b"/>
            <a:pathLst>
              <a:path w="274320" h="914">
                <a:moveTo>
                  <a:pt x="0" y="0"/>
                </a:moveTo>
                <a:lnTo>
                  <a:pt x="274320" y="0"/>
                </a:lnTo>
              </a:path>
            </a:pathLst>
          </a:custGeom>
          <a:ln w="8890">
            <a:solidFill>
              <a:srgbClr val="595959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5657602" y="27432"/>
            <a:ext cx="50873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capacity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17389" y="246888"/>
            <a:ext cx="897111" cy="6583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5" name="Shape 33"/>
          <p:cNvSpPr/>
          <p:nvPr/>
        </p:nvSpPr>
        <p:spPr>
          <a:xfrm>
            <a:off x="342900" y="773582"/>
            <a:ext cx="137160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2900" y="641909"/>
            <a:ext cx="137160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2900" y="510235"/>
            <a:ext cx="137160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2900" y="378562"/>
            <a:ext cx="137160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0871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6814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757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8700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24643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16529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0871" y="352227"/>
            <a:ext cx="431074" cy="289682"/>
          </a:xfrm>
          <a:custGeom>
            <a:avLst/>
            <a:gdLst/>
            <a:ahLst/>
            <a:cxnLst/>
            <a:rect l="l" t="t" r="r" b="b"/>
            <a:pathLst>
              <a:path w="431074" h="289682">
                <a:moveTo>
                  <a:pt x="0" y="289682"/>
                </a:moveTo>
                <a:lnTo>
                  <a:pt x="431074" y="0"/>
                </a:lnTo>
              </a:path>
            </a:pathLst>
          </a:custGeom>
          <a:ln w="8890">
            <a:solidFill>
              <a:srgbClr val="404040"/>
            </a:solidFill>
            <a:prstDash val="sysDot"/>
          </a:ln>
        </p:spPr>
      </p:sp>
      <p:sp>
        <p:nvSpPr>
          <p:cNvPr id="46" name="Shape 44"/>
          <p:cNvSpPr/>
          <p:nvPr/>
        </p:nvSpPr>
        <p:spPr>
          <a:xfrm>
            <a:off x="342900" y="389095"/>
            <a:ext cx="1371600" cy="0"/>
          </a:xfrm>
          <a:prstGeom prst="line">
            <a:avLst/>
          </a:prstGeom>
          <a:noFill/>
          <a:ln w="8890">
            <a:solidFill>
              <a:srgbClr val="595959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 flipV="1">
            <a:off x="832757" y="436853"/>
            <a:ext cx="0" cy="157733"/>
          </a:xfrm>
          <a:prstGeom prst="line">
            <a:avLst/>
          </a:prstGeom>
          <a:noFill/>
          <a:ln w="6985">
            <a:solidFill>
              <a:srgbClr val="59595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9041" y="409650"/>
            <a:ext cx="27432" cy="32004"/>
          </a:xfrm>
          <a:prstGeom prst="triangle">
            <a:avLst/>
          </a:prstGeom>
          <a:solidFill>
            <a:srgbClr val="595959"/>
          </a:solidFill>
          <a:ln/>
        </p:spPr>
      </p:sp>
      <p:sp>
        <p:nvSpPr>
          <p:cNvPr id="49" name="Shape 47"/>
          <p:cNvSpPr/>
          <p:nvPr/>
        </p:nvSpPr>
        <p:spPr>
          <a:xfrm rot="10800000">
            <a:off x="819041" y="589785"/>
            <a:ext cx="27432" cy="32004"/>
          </a:xfrm>
          <a:prstGeom prst="triangle">
            <a:avLst/>
          </a:prstGeom>
          <a:solidFill>
            <a:srgbClr val="595959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95597" y="255849"/>
            <a:ext cx="27432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1.95</a:t>
            </a:r>
            <a:endParaRPr lang="en-US" sz="630" dirty="0"/>
          </a:p>
        </p:txBody>
      </p:sp>
      <p:sp>
        <p:nvSpPr>
          <p:cNvPr id="51" name="Shape 49"/>
          <p:cNvSpPr/>
          <p:nvPr/>
        </p:nvSpPr>
        <p:spPr>
          <a:xfrm flipV="1">
            <a:off x="1028700" y="458434"/>
            <a:ext cx="0" cy="70683"/>
          </a:xfrm>
          <a:prstGeom prst="line">
            <a:avLst/>
          </a:prstGeom>
          <a:noFill/>
          <a:ln w="6985">
            <a:solidFill>
              <a:srgbClr val="59595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4984" y="431231"/>
            <a:ext cx="27432" cy="32004"/>
          </a:xfrm>
          <a:prstGeom prst="triangle">
            <a:avLst/>
          </a:prstGeom>
          <a:solidFill>
            <a:srgbClr val="595959"/>
          </a:solidFill>
          <a:ln/>
        </p:spPr>
      </p:sp>
      <p:sp>
        <p:nvSpPr>
          <p:cNvPr id="53" name="Shape 51"/>
          <p:cNvSpPr/>
          <p:nvPr/>
        </p:nvSpPr>
        <p:spPr>
          <a:xfrm rot="10800000">
            <a:off x="1014984" y="524317"/>
            <a:ext cx="27432" cy="32004"/>
          </a:xfrm>
          <a:prstGeom prst="triangle">
            <a:avLst/>
          </a:prstGeom>
          <a:solidFill>
            <a:srgbClr val="595959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91540" y="255849"/>
            <a:ext cx="27432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</a:t>
            </a:r>
            <a:endParaRPr lang="en-US" sz="630" dirty="0"/>
          </a:p>
        </p:txBody>
      </p:sp>
      <p:sp>
        <p:nvSpPr>
          <p:cNvPr id="55" name="Shape 53"/>
          <p:cNvSpPr/>
          <p:nvPr/>
        </p:nvSpPr>
        <p:spPr>
          <a:xfrm flipV="1">
            <a:off x="1224643" y="435023"/>
            <a:ext cx="0" cy="28442"/>
          </a:xfrm>
          <a:prstGeom prst="line">
            <a:avLst/>
          </a:prstGeom>
          <a:noFill/>
          <a:ln w="6985">
            <a:solidFill>
              <a:srgbClr val="59595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10927" y="407819"/>
            <a:ext cx="27432" cy="32004"/>
          </a:xfrm>
          <a:prstGeom prst="triangle">
            <a:avLst/>
          </a:prstGeom>
          <a:solidFill>
            <a:srgbClr val="595959"/>
          </a:solidFill>
          <a:ln/>
        </p:spPr>
      </p:sp>
      <p:sp>
        <p:nvSpPr>
          <p:cNvPr id="57" name="Shape 55"/>
          <p:cNvSpPr/>
          <p:nvPr/>
        </p:nvSpPr>
        <p:spPr>
          <a:xfrm rot="10800000">
            <a:off x="1210927" y="458665"/>
            <a:ext cx="27432" cy="32004"/>
          </a:xfrm>
          <a:prstGeom prst="triangle">
            <a:avLst/>
          </a:prstGeom>
          <a:solidFill>
            <a:srgbClr val="595959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87483" y="255849"/>
            <a:ext cx="27432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1.31</a:t>
            </a:r>
            <a:endParaRPr lang="en-US" sz="630" dirty="0"/>
          </a:p>
        </p:txBody>
      </p:sp>
      <p:sp>
        <p:nvSpPr>
          <p:cNvPr id="59" name="Shape 57"/>
          <p:cNvSpPr/>
          <p:nvPr/>
        </p:nvSpPr>
        <p:spPr>
          <a:xfrm flipV="1">
            <a:off x="1616529" y="432100"/>
            <a:ext cx="0" cy="75074"/>
          </a:xfrm>
          <a:prstGeom prst="line">
            <a:avLst/>
          </a:prstGeom>
          <a:noFill/>
          <a:ln w="6985">
            <a:solidFill>
              <a:srgbClr val="59595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02813" y="404896"/>
            <a:ext cx="27432" cy="32004"/>
          </a:xfrm>
          <a:prstGeom prst="triangle">
            <a:avLst/>
          </a:prstGeom>
          <a:solidFill>
            <a:srgbClr val="595959"/>
          </a:solidFill>
          <a:ln/>
        </p:spPr>
      </p:sp>
      <p:sp>
        <p:nvSpPr>
          <p:cNvPr id="61" name="Shape 59"/>
          <p:cNvSpPr/>
          <p:nvPr/>
        </p:nvSpPr>
        <p:spPr>
          <a:xfrm rot="10800000">
            <a:off x="1602813" y="502374"/>
            <a:ext cx="27432" cy="32004"/>
          </a:xfrm>
          <a:prstGeom prst="triangle">
            <a:avLst/>
          </a:prstGeom>
          <a:solidFill>
            <a:srgbClr val="595959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479369" y="255849"/>
            <a:ext cx="27432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1.48</a:t>
            </a:r>
            <a:endParaRPr lang="en-US" sz="630" dirty="0"/>
          </a:p>
        </p:txBody>
      </p:sp>
      <p:sp>
        <p:nvSpPr>
          <p:cNvPr id="63" name="Shape 61"/>
          <p:cNvSpPr/>
          <p:nvPr/>
        </p:nvSpPr>
        <p:spPr>
          <a:xfrm>
            <a:off x="440871" y="510420"/>
            <a:ext cx="1175657" cy="131489"/>
          </a:xfrm>
          <a:custGeom>
            <a:avLst/>
            <a:gdLst/>
            <a:ahLst/>
            <a:cxnLst/>
            <a:rect l="l" t="t" r="r" b="b"/>
            <a:pathLst>
              <a:path w="1175657" h="131489">
                <a:moveTo>
                  <a:pt x="0" y="131489"/>
                </a:moveTo>
                <a:lnTo>
                  <a:pt x="195943" y="184"/>
                </a:lnTo>
                <a:lnTo>
                  <a:pt x="391886" y="131121"/>
                </a:lnTo>
                <a:lnTo>
                  <a:pt x="587829" y="65652"/>
                </a:lnTo>
                <a:lnTo>
                  <a:pt x="783771" y="0"/>
                </a:lnTo>
                <a:lnTo>
                  <a:pt x="1175657" y="43709"/>
                </a:lnTo>
              </a:path>
            </a:pathLst>
          </a:custGeom>
          <a:ln w="13970">
            <a:solidFill>
              <a:srgbClr val="7F7F7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8240" y="619277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4183" y="487972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0126" y="618909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06069" y="553441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02011" y="487788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593897" y="531497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0871" y="385145"/>
            <a:ext cx="1175657" cy="256764"/>
          </a:xfrm>
          <a:custGeom>
            <a:avLst/>
            <a:gdLst/>
            <a:ahLst/>
            <a:cxnLst/>
            <a:rect l="l" t="t" r="r" b="b"/>
            <a:pathLst>
              <a:path w="1175657" h="256764">
                <a:moveTo>
                  <a:pt x="0" y="256764"/>
                </a:moveTo>
                <a:lnTo>
                  <a:pt x="195943" y="125366"/>
                </a:lnTo>
                <a:lnTo>
                  <a:pt x="391886" y="4753"/>
                </a:lnTo>
                <a:lnTo>
                  <a:pt x="587829" y="26335"/>
                </a:lnTo>
                <a:lnTo>
                  <a:pt x="783771" y="2923"/>
                </a:lnTo>
                <a:lnTo>
                  <a:pt x="1175657" y="0"/>
                </a:lnTo>
              </a:path>
            </a:pathLst>
          </a:custGeom>
          <a:ln w="16510">
            <a:solidFill>
              <a:srgbClr val="4472C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15725" y="616763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1668" y="485366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7611" y="364753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03554" y="386334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99497" y="362922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591383" y="359999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40871" y="384599"/>
            <a:ext cx="1175657" cy="257310"/>
          </a:xfrm>
          <a:custGeom>
            <a:avLst/>
            <a:gdLst/>
            <a:ahLst/>
            <a:cxnLst/>
            <a:rect l="l" t="t" r="r" b="b"/>
            <a:pathLst>
              <a:path w="1175657" h="257310">
                <a:moveTo>
                  <a:pt x="0" y="257310"/>
                </a:moveTo>
                <a:lnTo>
                  <a:pt x="195943" y="125636"/>
                </a:lnTo>
                <a:lnTo>
                  <a:pt x="391886" y="6399"/>
                </a:lnTo>
                <a:lnTo>
                  <a:pt x="587829" y="27981"/>
                </a:lnTo>
                <a:lnTo>
                  <a:pt x="783771" y="3470"/>
                </a:lnTo>
                <a:lnTo>
                  <a:pt x="1175657" y="0"/>
                </a:lnTo>
              </a:path>
            </a:pathLst>
          </a:custGeom>
          <a:ln w="13970">
            <a:solidFill>
              <a:srgbClr val="ED7D31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408182" y="609219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4124" y="477545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0067" y="358308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96010" y="379890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91953" y="355379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583839" y="351909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800100" y="778337"/>
            <a:ext cx="886968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Full's hold &gt; period</a:t>
            </a:r>
            <a:endParaRPr lang="en-US" sz="630" dirty="0"/>
          </a:p>
        </p:txBody>
      </p:sp>
      <p:sp>
        <p:nvSpPr>
          <p:cNvPr id="85" name="Text 83"/>
          <p:cNvSpPr txBox="1"/>
          <p:nvPr/>
        </p:nvSpPr>
        <p:spPr>
          <a:xfrm rot="19565934">
            <a:off x="308318" y="446181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4</a:t>
            </a:r>
            <a:pPr algn="ctr" indent="0" marL="0">
              <a:buNone/>
            </a:pPr>
            <a:r>
              <a:rPr lang="en-US" sz="63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630" dirty="0"/>
          </a:p>
        </p:txBody>
      </p:sp>
      <p:sp>
        <p:nvSpPr>
          <p:cNvPr id="86" name="Shape 84"/>
          <p:cNvSpPr/>
          <p:nvPr/>
        </p:nvSpPr>
        <p:spPr>
          <a:xfrm>
            <a:off x="342900" y="246888"/>
            <a:ext cx="1371600" cy="658368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5468" y="905256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-68580" y="850392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315468" y="773582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-68580" y="718718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315468" y="641909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-68580" y="587045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315468" y="510235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-68580" y="455371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15468" y="378562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-68580" y="323698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440871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66551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636814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362494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832757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58437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1028700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754380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1224643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950323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1616529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1342209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700" dirty="0"/>
          </a:p>
        </p:txBody>
      </p:sp>
      <p:sp>
        <p:nvSpPr>
          <p:cNvPr id="109" name="Text 107"/>
          <p:cNvSpPr txBox="1"/>
          <p:nvPr/>
        </p:nvSpPr>
        <p:spPr>
          <a:xfrm>
            <a:off x="160020" y="1051560"/>
            <a:ext cx="1737360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rate (Hz)</a:t>
            </a:r>
            <a:endParaRPr lang="en-US" sz="750" dirty="0"/>
          </a:p>
        </p:txBody>
      </p:sp>
      <p:sp>
        <p:nvSpPr>
          <p:cNvPr id="110" name="Text 108"/>
          <p:cNvSpPr txBox="1"/>
          <p:nvPr/>
        </p:nvSpPr>
        <p:spPr>
          <a:xfrm rot="16200000">
            <a:off x="-470916" y="512064"/>
            <a:ext cx="109728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results/s</a:t>
            </a:r>
            <a:endParaRPr lang="en-US" sz="750" dirty="0"/>
          </a:p>
        </p:txBody>
      </p:sp>
      <p:sp>
        <p:nvSpPr>
          <p:cNvPr id="111" name="Text 109"/>
          <p:cNvSpPr txBox="1"/>
          <p:nvPr/>
        </p:nvSpPr>
        <p:spPr>
          <a:xfrm>
            <a:off x="4572" y="1197864"/>
            <a:ext cx="175564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results with one slot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2543530" y="246888"/>
            <a:ext cx="789458" cy="6583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3" name="Shape 111"/>
          <p:cNvSpPr/>
          <p:nvPr/>
        </p:nvSpPr>
        <p:spPr>
          <a:xfrm>
            <a:off x="2125980" y="758952"/>
            <a:ext cx="1207008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125980" y="612648"/>
            <a:ext cx="1207008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25980" y="466344"/>
            <a:ext cx="1207008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125980" y="320040"/>
            <a:ext cx="1207008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212195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384625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557054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729484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901914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246773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125980" y="320040"/>
            <a:ext cx="1207008" cy="0"/>
          </a:xfrm>
          <a:prstGeom prst="line">
            <a:avLst/>
          </a:prstGeom>
          <a:noFill/>
          <a:ln w="8890">
            <a:solidFill>
              <a:srgbClr val="000000"/>
            </a:solidFill>
            <a:prstDash val="lgDashDot"/>
          </a:ln>
        </p:spPr>
      </p:sp>
      <p:sp>
        <p:nvSpPr>
          <p:cNvPr id="124" name="Text 122"/>
          <p:cNvSpPr txBox="1"/>
          <p:nvPr/>
        </p:nvSpPr>
        <p:spPr>
          <a:xfrm>
            <a:off x="2153569" y="331013"/>
            <a:ext cx="45720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630" dirty="0"/>
          </a:p>
        </p:txBody>
      </p:sp>
      <p:sp>
        <p:nvSpPr>
          <p:cNvPr id="125" name="Shape 123"/>
          <p:cNvSpPr/>
          <p:nvPr/>
        </p:nvSpPr>
        <p:spPr>
          <a:xfrm>
            <a:off x="2212195" y="420097"/>
            <a:ext cx="1034578" cy="139289"/>
          </a:xfrm>
          <a:custGeom>
            <a:avLst/>
            <a:gdLst/>
            <a:ahLst/>
            <a:cxnLst/>
            <a:rect l="l" t="t" r="r" b="b"/>
            <a:pathLst>
              <a:path w="1034578" h="139289">
                <a:moveTo>
                  <a:pt x="0" y="137314"/>
                </a:moveTo>
                <a:lnTo>
                  <a:pt x="172430" y="139289"/>
                </a:lnTo>
                <a:lnTo>
                  <a:pt x="344859" y="24126"/>
                </a:lnTo>
                <a:lnTo>
                  <a:pt x="517289" y="29524"/>
                </a:lnTo>
                <a:lnTo>
                  <a:pt x="689719" y="0"/>
                </a:lnTo>
                <a:lnTo>
                  <a:pt x="1034578" y="8361"/>
                </a:lnTo>
              </a:path>
            </a:pathLst>
          </a:custGeom>
          <a:ln w="11430">
            <a:solidFill>
              <a:srgbClr val="4472C4"/>
            </a:solidFill>
            <a:prstDash val="sysDot"/>
          </a:ln>
        </p:spPr>
      </p:sp>
      <p:sp>
        <p:nvSpPr>
          <p:cNvPr id="126" name="Shape 124"/>
          <p:cNvSpPr/>
          <p:nvPr/>
        </p:nvSpPr>
        <p:spPr>
          <a:xfrm>
            <a:off x="2187049" y="532265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359479" y="534240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531908" y="419077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704338" y="424475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876768" y="394951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221627" y="403313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212195" y="624850"/>
            <a:ext cx="1034578" cy="4075"/>
          </a:xfrm>
          <a:custGeom>
            <a:avLst/>
            <a:gdLst/>
            <a:ahLst/>
            <a:cxnLst/>
            <a:rect l="l" t="t" r="r" b="b"/>
            <a:pathLst>
              <a:path w="1034578" h="4075">
                <a:moveTo>
                  <a:pt x="0" y="0"/>
                </a:moveTo>
                <a:lnTo>
                  <a:pt x="172430" y="1558"/>
                </a:lnTo>
                <a:lnTo>
                  <a:pt x="344859" y="37"/>
                </a:lnTo>
                <a:lnTo>
                  <a:pt x="517289" y="1361"/>
                </a:lnTo>
                <a:lnTo>
                  <a:pt x="689719" y="4075"/>
                </a:lnTo>
                <a:lnTo>
                  <a:pt x="1034578" y="1931"/>
                </a:lnTo>
              </a:path>
            </a:pathLst>
          </a:custGeom>
          <a:ln w="13970">
            <a:solidFill>
              <a:srgbClr val="7F7F7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189563" y="602218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361993" y="603776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534423" y="602255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706853" y="603579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879282" y="606293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224142" y="604150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212195" y="536394"/>
            <a:ext cx="1034578" cy="94900"/>
          </a:xfrm>
          <a:custGeom>
            <a:avLst/>
            <a:gdLst/>
            <a:ahLst/>
            <a:cxnLst/>
            <a:rect l="l" t="t" r="r" b="b"/>
            <a:pathLst>
              <a:path w="1034578" h="94900">
                <a:moveTo>
                  <a:pt x="0" y="89216"/>
                </a:moveTo>
                <a:lnTo>
                  <a:pt x="172430" y="94900"/>
                </a:lnTo>
                <a:lnTo>
                  <a:pt x="344859" y="18332"/>
                </a:lnTo>
                <a:lnTo>
                  <a:pt x="517289" y="27703"/>
                </a:lnTo>
                <a:lnTo>
                  <a:pt x="689719" y="13818"/>
                </a:lnTo>
                <a:lnTo>
                  <a:pt x="1034578" y="0"/>
                </a:lnTo>
              </a:path>
            </a:pathLst>
          </a:custGeom>
          <a:ln w="13970">
            <a:solidFill>
              <a:srgbClr val="ED7D31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2179505" y="592921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351935" y="598605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524364" y="522036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696794" y="531407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869224" y="517523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214083" y="503705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212195" y="543088"/>
            <a:ext cx="1034578" cy="85698"/>
          </a:xfrm>
          <a:custGeom>
            <a:avLst/>
            <a:gdLst/>
            <a:ahLst/>
            <a:cxnLst/>
            <a:rect l="l" t="t" r="r" b="b"/>
            <a:pathLst>
              <a:path w="1034578" h="85698">
                <a:moveTo>
                  <a:pt x="0" y="81338"/>
                </a:moveTo>
                <a:lnTo>
                  <a:pt x="172430" y="85698"/>
                </a:lnTo>
                <a:lnTo>
                  <a:pt x="344859" y="15325"/>
                </a:lnTo>
                <a:lnTo>
                  <a:pt x="517289" y="25274"/>
                </a:lnTo>
                <a:lnTo>
                  <a:pt x="689719" y="6481"/>
                </a:lnTo>
                <a:lnTo>
                  <a:pt x="1034578" y="0"/>
                </a:lnTo>
              </a:path>
            </a:pathLst>
          </a:custGeom>
          <a:ln w="16510">
            <a:solidFill>
              <a:srgbClr val="4472C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187049" y="599279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359479" y="603639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531908" y="533267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704338" y="543216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876768" y="524423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221627" y="517942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188172" y="722376"/>
            <a:ext cx="11173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220176" y="800100"/>
            <a:ext cx="155448" cy="914"/>
          </a:xfrm>
          <a:custGeom>
            <a:avLst/>
            <a:gdLst/>
            <a:ahLst/>
            <a:cxnLst/>
            <a:rect l="l" t="t" r="r" b="b"/>
            <a:pathLst>
              <a:path w="155448" h="914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13970">
            <a:solidFill>
              <a:srgbClr val="40404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275040" y="777240"/>
            <a:ext cx="45720" cy="45720"/>
          </a:xfrm>
          <a:prstGeom prst="ellipse">
            <a:avLst/>
          </a:prstGeom>
          <a:solidFill>
            <a:srgbClr val="404040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2412200" y="745236"/>
            <a:ext cx="223963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610" dirty="0"/>
          </a:p>
        </p:txBody>
      </p:sp>
      <p:sp>
        <p:nvSpPr>
          <p:cNvPr id="157" name="Shape 155"/>
          <p:cNvSpPr/>
          <p:nvPr/>
        </p:nvSpPr>
        <p:spPr>
          <a:xfrm>
            <a:off x="2654451" y="800100"/>
            <a:ext cx="155448" cy="914"/>
          </a:xfrm>
          <a:custGeom>
            <a:avLst/>
            <a:gdLst/>
            <a:ahLst/>
            <a:cxnLst/>
            <a:rect l="l" t="t" r="r" b="b"/>
            <a:pathLst>
              <a:path w="155448" h="914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11430">
            <a:solidFill>
              <a:srgbClr val="4472C4"/>
            </a:solidFill>
            <a:prstDash val="sysDot"/>
          </a:ln>
        </p:spPr>
      </p:sp>
      <p:sp>
        <p:nvSpPr>
          <p:cNvPr id="158" name="Shape 156"/>
          <p:cNvSpPr/>
          <p:nvPr/>
        </p:nvSpPr>
        <p:spPr>
          <a:xfrm>
            <a:off x="2709315" y="777240"/>
            <a:ext cx="45720" cy="45720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2846475" y="745236"/>
            <a:ext cx="472797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95th pct.</a:t>
            </a:r>
            <a:endParaRPr lang="en-US" sz="610" dirty="0"/>
          </a:p>
        </p:txBody>
      </p:sp>
      <p:sp>
        <p:nvSpPr>
          <p:cNvPr id="160" name="Shape 158"/>
          <p:cNvSpPr/>
          <p:nvPr/>
        </p:nvSpPr>
        <p:spPr>
          <a:xfrm>
            <a:off x="2125980" y="246888"/>
            <a:ext cx="1207008" cy="658368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098548" y="905256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1714500" y="850392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2098548" y="758952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1714500" y="704088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2098548" y="612648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1714500" y="557784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2098548" y="466344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1714500" y="411480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2098548" y="320040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1714500" y="265176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2212195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1937875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2384625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2110305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557054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2282734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2729484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2455164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2901914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2627594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3246773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2972453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700" dirty="0"/>
          </a:p>
        </p:txBody>
      </p:sp>
      <p:sp>
        <p:nvSpPr>
          <p:cNvPr id="183" name="Text 181"/>
          <p:cNvSpPr txBox="1"/>
          <p:nvPr/>
        </p:nvSpPr>
        <p:spPr>
          <a:xfrm>
            <a:off x="1943100" y="1051560"/>
            <a:ext cx="1572768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rate (Hz)</a:t>
            </a:r>
            <a:endParaRPr lang="en-US" sz="750" dirty="0"/>
          </a:p>
        </p:txBody>
      </p:sp>
      <p:sp>
        <p:nvSpPr>
          <p:cNvPr id="184" name="Text 182"/>
          <p:cNvSpPr txBox="1"/>
          <p:nvPr/>
        </p:nvSpPr>
        <p:spPr>
          <a:xfrm rot="16200000">
            <a:off x="1312164" y="547949"/>
            <a:ext cx="109728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latency (ms)</a:t>
            </a:r>
            <a:endParaRPr lang="en-US" sz="750" dirty="0"/>
          </a:p>
        </p:txBody>
      </p:sp>
      <p:sp>
        <p:nvSpPr>
          <p:cNvPr id="185" name="Text 183"/>
          <p:cNvSpPr txBox="1"/>
          <p:nvPr/>
        </p:nvSpPr>
        <p:spPr>
          <a:xfrm>
            <a:off x="1787652" y="1197864"/>
            <a:ext cx="159105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latency</a:t>
            </a:r>
            <a:endParaRPr lang="en-US" sz="750" dirty="0"/>
          </a:p>
        </p:txBody>
      </p:sp>
      <p:sp>
        <p:nvSpPr>
          <p:cNvPr id="186" name="Shape 184"/>
          <p:cNvSpPr/>
          <p:nvPr/>
        </p:nvSpPr>
        <p:spPr>
          <a:xfrm>
            <a:off x="3744468" y="246888"/>
            <a:ext cx="1207008" cy="451821"/>
          </a:xfrm>
          <a:custGeom>
            <a:avLst/>
            <a:gdLst/>
            <a:ahLst/>
            <a:cxnLst/>
            <a:rect l="l" t="t" r="r" b="b"/>
            <a:pathLst>
              <a:path w="1207008" h="451821">
                <a:moveTo>
                  <a:pt x="0" y="0"/>
                </a:moveTo>
                <a:lnTo>
                  <a:pt x="10058" y="0"/>
                </a:lnTo>
                <a:lnTo>
                  <a:pt x="20117" y="0"/>
                </a:lnTo>
                <a:lnTo>
                  <a:pt x="30175" y="0"/>
                </a:lnTo>
                <a:lnTo>
                  <a:pt x="40234" y="0"/>
                </a:lnTo>
                <a:lnTo>
                  <a:pt x="50292" y="0"/>
                </a:lnTo>
                <a:lnTo>
                  <a:pt x="60350" y="0"/>
                </a:lnTo>
                <a:lnTo>
                  <a:pt x="70409" y="0"/>
                </a:lnTo>
                <a:lnTo>
                  <a:pt x="80467" y="0"/>
                </a:lnTo>
                <a:lnTo>
                  <a:pt x="90526" y="0"/>
                </a:lnTo>
                <a:lnTo>
                  <a:pt x="100584" y="0"/>
                </a:lnTo>
                <a:lnTo>
                  <a:pt x="110642" y="0"/>
                </a:lnTo>
                <a:lnTo>
                  <a:pt x="120701" y="0"/>
                </a:lnTo>
                <a:lnTo>
                  <a:pt x="130759" y="0"/>
                </a:lnTo>
                <a:lnTo>
                  <a:pt x="140818" y="0"/>
                </a:lnTo>
                <a:lnTo>
                  <a:pt x="150876" y="0"/>
                </a:lnTo>
                <a:lnTo>
                  <a:pt x="160934" y="0"/>
                </a:lnTo>
                <a:lnTo>
                  <a:pt x="170993" y="0"/>
                </a:lnTo>
                <a:lnTo>
                  <a:pt x="181051" y="0"/>
                </a:lnTo>
                <a:lnTo>
                  <a:pt x="191110" y="0"/>
                </a:lnTo>
                <a:lnTo>
                  <a:pt x="201168" y="0"/>
                </a:lnTo>
                <a:lnTo>
                  <a:pt x="211226" y="14094"/>
                </a:lnTo>
                <a:lnTo>
                  <a:pt x="221285" y="27596"/>
                </a:lnTo>
                <a:lnTo>
                  <a:pt x="231343" y="40545"/>
                </a:lnTo>
                <a:lnTo>
                  <a:pt x="241402" y="52972"/>
                </a:lnTo>
                <a:lnTo>
                  <a:pt x="251460" y="64910"/>
                </a:lnTo>
                <a:lnTo>
                  <a:pt x="261518" y="76385"/>
                </a:lnTo>
                <a:lnTo>
                  <a:pt x="271577" y="87426"/>
                </a:lnTo>
                <a:lnTo>
                  <a:pt x="281635" y="98055"/>
                </a:lnTo>
                <a:lnTo>
                  <a:pt x="291694" y="108296"/>
                </a:lnTo>
                <a:lnTo>
                  <a:pt x="301752" y="118169"/>
                </a:lnTo>
                <a:lnTo>
                  <a:pt x="311810" y="127694"/>
                </a:lnTo>
                <a:lnTo>
                  <a:pt x="321869" y="136888"/>
                </a:lnTo>
                <a:lnTo>
                  <a:pt x="331927" y="145770"/>
                </a:lnTo>
                <a:lnTo>
                  <a:pt x="341986" y="154354"/>
                </a:lnTo>
                <a:lnTo>
                  <a:pt x="352044" y="162656"/>
                </a:lnTo>
                <a:lnTo>
                  <a:pt x="362102" y="170688"/>
                </a:lnTo>
                <a:lnTo>
                  <a:pt x="372161" y="178464"/>
                </a:lnTo>
                <a:lnTo>
                  <a:pt x="382219" y="185996"/>
                </a:lnTo>
                <a:lnTo>
                  <a:pt x="392278" y="193296"/>
                </a:lnTo>
                <a:lnTo>
                  <a:pt x="402336" y="200373"/>
                </a:lnTo>
                <a:lnTo>
                  <a:pt x="412394" y="207238"/>
                </a:lnTo>
                <a:lnTo>
                  <a:pt x="422453" y="213900"/>
                </a:lnTo>
                <a:lnTo>
                  <a:pt x="432511" y="220368"/>
                </a:lnTo>
                <a:lnTo>
                  <a:pt x="442570" y="226651"/>
                </a:lnTo>
                <a:lnTo>
                  <a:pt x="452628" y="232756"/>
                </a:lnTo>
                <a:lnTo>
                  <a:pt x="462686" y="238691"/>
                </a:lnTo>
                <a:lnTo>
                  <a:pt x="472745" y="244463"/>
                </a:lnTo>
                <a:lnTo>
                  <a:pt x="482803" y="250078"/>
                </a:lnTo>
                <a:lnTo>
                  <a:pt x="492862" y="255542"/>
                </a:lnTo>
                <a:lnTo>
                  <a:pt x="502920" y="260863"/>
                </a:lnTo>
                <a:lnTo>
                  <a:pt x="512978" y="266044"/>
                </a:lnTo>
                <a:lnTo>
                  <a:pt x="523037" y="271093"/>
                </a:lnTo>
                <a:lnTo>
                  <a:pt x="533095" y="276013"/>
                </a:lnTo>
                <a:lnTo>
                  <a:pt x="543154" y="280809"/>
                </a:lnTo>
                <a:lnTo>
                  <a:pt x="553212" y="285487"/>
                </a:lnTo>
                <a:lnTo>
                  <a:pt x="563270" y="290050"/>
                </a:lnTo>
                <a:lnTo>
                  <a:pt x="573329" y="294503"/>
                </a:lnTo>
                <a:lnTo>
                  <a:pt x="583387" y="298850"/>
                </a:lnTo>
                <a:lnTo>
                  <a:pt x="593446" y="303094"/>
                </a:lnTo>
                <a:lnTo>
                  <a:pt x="603504" y="307238"/>
                </a:lnTo>
                <a:lnTo>
                  <a:pt x="613562" y="311288"/>
                </a:lnTo>
                <a:lnTo>
                  <a:pt x="623621" y="315245"/>
                </a:lnTo>
                <a:lnTo>
                  <a:pt x="633679" y="319112"/>
                </a:lnTo>
                <a:lnTo>
                  <a:pt x="643738" y="322894"/>
                </a:lnTo>
                <a:lnTo>
                  <a:pt x="653796" y="326592"/>
                </a:lnTo>
                <a:lnTo>
                  <a:pt x="663854" y="330209"/>
                </a:lnTo>
                <a:lnTo>
                  <a:pt x="673913" y="333749"/>
                </a:lnTo>
                <a:lnTo>
                  <a:pt x="683971" y="337213"/>
                </a:lnTo>
                <a:lnTo>
                  <a:pt x="694030" y="340604"/>
                </a:lnTo>
                <a:lnTo>
                  <a:pt x="704088" y="343924"/>
                </a:lnTo>
                <a:lnTo>
                  <a:pt x="714146" y="347175"/>
                </a:lnTo>
                <a:lnTo>
                  <a:pt x="724205" y="350360"/>
                </a:lnTo>
                <a:lnTo>
                  <a:pt x="734263" y="353480"/>
                </a:lnTo>
                <a:lnTo>
                  <a:pt x="744322" y="356537"/>
                </a:lnTo>
                <a:lnTo>
                  <a:pt x="754380" y="359534"/>
                </a:lnTo>
                <a:lnTo>
                  <a:pt x="764438" y="362472"/>
                </a:lnTo>
                <a:lnTo>
                  <a:pt x="774497" y="365353"/>
                </a:lnTo>
                <a:lnTo>
                  <a:pt x="784555" y="368178"/>
                </a:lnTo>
                <a:lnTo>
                  <a:pt x="794614" y="370950"/>
                </a:lnTo>
                <a:lnTo>
                  <a:pt x="804672" y="373668"/>
                </a:lnTo>
                <a:lnTo>
                  <a:pt x="814730" y="376336"/>
                </a:lnTo>
                <a:lnTo>
                  <a:pt x="824789" y="378955"/>
                </a:lnTo>
                <a:lnTo>
                  <a:pt x="834847" y="381525"/>
                </a:lnTo>
                <a:lnTo>
                  <a:pt x="844906" y="384048"/>
                </a:lnTo>
                <a:lnTo>
                  <a:pt x="854964" y="386526"/>
                </a:lnTo>
                <a:lnTo>
                  <a:pt x="865022" y="388959"/>
                </a:lnTo>
                <a:lnTo>
                  <a:pt x="875081" y="391349"/>
                </a:lnTo>
                <a:lnTo>
                  <a:pt x="885139" y="393697"/>
                </a:lnTo>
                <a:lnTo>
                  <a:pt x="895198" y="396005"/>
                </a:lnTo>
                <a:lnTo>
                  <a:pt x="905256" y="398272"/>
                </a:lnTo>
                <a:lnTo>
                  <a:pt x="915314" y="400500"/>
                </a:lnTo>
                <a:lnTo>
                  <a:pt x="925373" y="402691"/>
                </a:lnTo>
                <a:lnTo>
                  <a:pt x="935431" y="404845"/>
                </a:lnTo>
                <a:lnTo>
                  <a:pt x="945490" y="406963"/>
                </a:lnTo>
                <a:lnTo>
                  <a:pt x="955548" y="409045"/>
                </a:lnTo>
                <a:lnTo>
                  <a:pt x="965606" y="411094"/>
                </a:lnTo>
                <a:lnTo>
                  <a:pt x="975665" y="413109"/>
                </a:lnTo>
                <a:lnTo>
                  <a:pt x="985723" y="415091"/>
                </a:lnTo>
                <a:lnTo>
                  <a:pt x="995782" y="417042"/>
                </a:lnTo>
                <a:lnTo>
                  <a:pt x="1005840" y="418961"/>
                </a:lnTo>
                <a:lnTo>
                  <a:pt x="1015898" y="420851"/>
                </a:lnTo>
                <a:lnTo>
                  <a:pt x="1025957" y="422711"/>
                </a:lnTo>
                <a:lnTo>
                  <a:pt x="1036015" y="424541"/>
                </a:lnTo>
                <a:lnTo>
                  <a:pt x="1046074" y="426344"/>
                </a:lnTo>
                <a:lnTo>
                  <a:pt x="1056132" y="428119"/>
                </a:lnTo>
                <a:lnTo>
                  <a:pt x="1066190" y="429867"/>
                </a:lnTo>
                <a:lnTo>
                  <a:pt x="1076249" y="431589"/>
                </a:lnTo>
                <a:lnTo>
                  <a:pt x="1086307" y="433285"/>
                </a:lnTo>
                <a:lnTo>
                  <a:pt x="1096366" y="434956"/>
                </a:lnTo>
                <a:lnTo>
                  <a:pt x="1106424" y="436602"/>
                </a:lnTo>
                <a:lnTo>
                  <a:pt x="1116482" y="438224"/>
                </a:lnTo>
                <a:lnTo>
                  <a:pt x="1126541" y="439823"/>
                </a:lnTo>
                <a:lnTo>
                  <a:pt x="1136599" y="441398"/>
                </a:lnTo>
                <a:lnTo>
                  <a:pt x="1146658" y="442951"/>
                </a:lnTo>
                <a:lnTo>
                  <a:pt x="1156716" y="444482"/>
                </a:lnTo>
                <a:lnTo>
                  <a:pt x="1166774" y="445991"/>
                </a:lnTo>
                <a:lnTo>
                  <a:pt x="1176833" y="447479"/>
                </a:lnTo>
                <a:lnTo>
                  <a:pt x="1186891" y="448947"/>
                </a:lnTo>
                <a:lnTo>
                  <a:pt x="1196950" y="450394"/>
                </a:lnTo>
                <a:lnTo>
                  <a:pt x="1207008" y="451821"/>
                </a:lnTo>
                <a:lnTo>
                  <a:pt x="1207008" y="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/>
        </p:spPr>
      </p:sp>
      <p:sp>
        <p:nvSpPr>
          <p:cNvPr id="187" name="Shape 185"/>
          <p:cNvSpPr/>
          <p:nvPr/>
        </p:nvSpPr>
        <p:spPr>
          <a:xfrm>
            <a:off x="3744468" y="685800"/>
            <a:ext cx="1207008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744468" y="466344"/>
            <a:ext cx="1207008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830683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003113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175542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347972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520402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865261" y="246888"/>
            <a:ext cx="0" cy="65836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945636" y="246888"/>
            <a:ext cx="1005840" cy="451821"/>
          </a:xfrm>
          <a:custGeom>
            <a:avLst/>
            <a:gdLst/>
            <a:ahLst/>
            <a:cxnLst/>
            <a:rect l="l" t="t" r="r" b="b"/>
            <a:pathLst>
              <a:path w="1005840" h="451821">
                <a:moveTo>
                  <a:pt x="0" y="0"/>
                </a:moveTo>
                <a:lnTo>
                  <a:pt x="10058" y="14094"/>
                </a:lnTo>
                <a:lnTo>
                  <a:pt x="20117" y="27596"/>
                </a:lnTo>
                <a:lnTo>
                  <a:pt x="30175" y="40545"/>
                </a:lnTo>
                <a:lnTo>
                  <a:pt x="40234" y="52972"/>
                </a:lnTo>
                <a:lnTo>
                  <a:pt x="50292" y="64910"/>
                </a:lnTo>
                <a:lnTo>
                  <a:pt x="60350" y="76385"/>
                </a:lnTo>
                <a:lnTo>
                  <a:pt x="70409" y="87426"/>
                </a:lnTo>
                <a:lnTo>
                  <a:pt x="80467" y="98055"/>
                </a:lnTo>
                <a:lnTo>
                  <a:pt x="90526" y="108296"/>
                </a:lnTo>
                <a:lnTo>
                  <a:pt x="100584" y="118169"/>
                </a:lnTo>
                <a:lnTo>
                  <a:pt x="110642" y="127694"/>
                </a:lnTo>
                <a:lnTo>
                  <a:pt x="120701" y="136888"/>
                </a:lnTo>
                <a:lnTo>
                  <a:pt x="130759" y="145770"/>
                </a:lnTo>
                <a:lnTo>
                  <a:pt x="140818" y="154354"/>
                </a:lnTo>
                <a:lnTo>
                  <a:pt x="150876" y="162656"/>
                </a:lnTo>
                <a:lnTo>
                  <a:pt x="160934" y="170688"/>
                </a:lnTo>
                <a:lnTo>
                  <a:pt x="170993" y="178464"/>
                </a:lnTo>
                <a:lnTo>
                  <a:pt x="181051" y="185996"/>
                </a:lnTo>
                <a:lnTo>
                  <a:pt x="191110" y="193296"/>
                </a:lnTo>
                <a:lnTo>
                  <a:pt x="201168" y="200373"/>
                </a:lnTo>
                <a:lnTo>
                  <a:pt x="211226" y="207238"/>
                </a:lnTo>
                <a:lnTo>
                  <a:pt x="221285" y="213900"/>
                </a:lnTo>
                <a:lnTo>
                  <a:pt x="231343" y="220368"/>
                </a:lnTo>
                <a:lnTo>
                  <a:pt x="241402" y="226651"/>
                </a:lnTo>
                <a:lnTo>
                  <a:pt x="251460" y="232756"/>
                </a:lnTo>
                <a:lnTo>
                  <a:pt x="261518" y="238691"/>
                </a:lnTo>
                <a:lnTo>
                  <a:pt x="271577" y="244463"/>
                </a:lnTo>
                <a:lnTo>
                  <a:pt x="281635" y="250078"/>
                </a:lnTo>
                <a:lnTo>
                  <a:pt x="291694" y="255542"/>
                </a:lnTo>
                <a:lnTo>
                  <a:pt x="301752" y="260863"/>
                </a:lnTo>
                <a:lnTo>
                  <a:pt x="311810" y="266044"/>
                </a:lnTo>
                <a:lnTo>
                  <a:pt x="321869" y="271093"/>
                </a:lnTo>
                <a:lnTo>
                  <a:pt x="331927" y="276013"/>
                </a:lnTo>
                <a:lnTo>
                  <a:pt x="341986" y="280809"/>
                </a:lnTo>
                <a:lnTo>
                  <a:pt x="352044" y="285487"/>
                </a:lnTo>
                <a:lnTo>
                  <a:pt x="362102" y="290050"/>
                </a:lnTo>
                <a:lnTo>
                  <a:pt x="372161" y="294503"/>
                </a:lnTo>
                <a:lnTo>
                  <a:pt x="382219" y="298850"/>
                </a:lnTo>
                <a:lnTo>
                  <a:pt x="392278" y="303094"/>
                </a:lnTo>
                <a:lnTo>
                  <a:pt x="402336" y="307238"/>
                </a:lnTo>
                <a:lnTo>
                  <a:pt x="412394" y="311288"/>
                </a:lnTo>
                <a:lnTo>
                  <a:pt x="422453" y="315245"/>
                </a:lnTo>
                <a:lnTo>
                  <a:pt x="432511" y="319112"/>
                </a:lnTo>
                <a:lnTo>
                  <a:pt x="442570" y="322894"/>
                </a:lnTo>
                <a:lnTo>
                  <a:pt x="452628" y="326592"/>
                </a:lnTo>
                <a:lnTo>
                  <a:pt x="462686" y="330209"/>
                </a:lnTo>
                <a:lnTo>
                  <a:pt x="472745" y="333749"/>
                </a:lnTo>
                <a:lnTo>
                  <a:pt x="482803" y="337213"/>
                </a:lnTo>
                <a:lnTo>
                  <a:pt x="492862" y="340604"/>
                </a:lnTo>
                <a:lnTo>
                  <a:pt x="502920" y="343924"/>
                </a:lnTo>
                <a:lnTo>
                  <a:pt x="512978" y="347175"/>
                </a:lnTo>
                <a:lnTo>
                  <a:pt x="523037" y="350360"/>
                </a:lnTo>
                <a:lnTo>
                  <a:pt x="533095" y="353480"/>
                </a:lnTo>
                <a:lnTo>
                  <a:pt x="543154" y="356537"/>
                </a:lnTo>
                <a:lnTo>
                  <a:pt x="553212" y="359534"/>
                </a:lnTo>
                <a:lnTo>
                  <a:pt x="563270" y="362472"/>
                </a:lnTo>
                <a:lnTo>
                  <a:pt x="573329" y="365353"/>
                </a:lnTo>
                <a:lnTo>
                  <a:pt x="583387" y="368178"/>
                </a:lnTo>
                <a:lnTo>
                  <a:pt x="593446" y="370950"/>
                </a:lnTo>
                <a:lnTo>
                  <a:pt x="603504" y="373668"/>
                </a:lnTo>
                <a:lnTo>
                  <a:pt x="613562" y="376336"/>
                </a:lnTo>
                <a:lnTo>
                  <a:pt x="623621" y="378955"/>
                </a:lnTo>
                <a:lnTo>
                  <a:pt x="633679" y="381525"/>
                </a:lnTo>
                <a:lnTo>
                  <a:pt x="643738" y="384048"/>
                </a:lnTo>
                <a:lnTo>
                  <a:pt x="653796" y="386526"/>
                </a:lnTo>
                <a:lnTo>
                  <a:pt x="663854" y="388959"/>
                </a:lnTo>
                <a:lnTo>
                  <a:pt x="673913" y="391349"/>
                </a:lnTo>
                <a:lnTo>
                  <a:pt x="683971" y="393697"/>
                </a:lnTo>
                <a:lnTo>
                  <a:pt x="694030" y="396005"/>
                </a:lnTo>
                <a:lnTo>
                  <a:pt x="704088" y="398272"/>
                </a:lnTo>
                <a:lnTo>
                  <a:pt x="714146" y="400500"/>
                </a:lnTo>
                <a:lnTo>
                  <a:pt x="724205" y="402691"/>
                </a:lnTo>
                <a:lnTo>
                  <a:pt x="734263" y="404845"/>
                </a:lnTo>
                <a:lnTo>
                  <a:pt x="744322" y="406963"/>
                </a:lnTo>
                <a:lnTo>
                  <a:pt x="754380" y="409045"/>
                </a:lnTo>
                <a:lnTo>
                  <a:pt x="764438" y="411094"/>
                </a:lnTo>
                <a:lnTo>
                  <a:pt x="774497" y="413109"/>
                </a:lnTo>
                <a:lnTo>
                  <a:pt x="784555" y="415091"/>
                </a:lnTo>
                <a:lnTo>
                  <a:pt x="794614" y="417042"/>
                </a:lnTo>
                <a:lnTo>
                  <a:pt x="804672" y="418961"/>
                </a:lnTo>
                <a:lnTo>
                  <a:pt x="814730" y="420851"/>
                </a:lnTo>
                <a:lnTo>
                  <a:pt x="824789" y="422711"/>
                </a:lnTo>
                <a:lnTo>
                  <a:pt x="834847" y="424541"/>
                </a:lnTo>
                <a:lnTo>
                  <a:pt x="844906" y="426344"/>
                </a:lnTo>
                <a:lnTo>
                  <a:pt x="854964" y="428119"/>
                </a:lnTo>
                <a:lnTo>
                  <a:pt x="865022" y="429867"/>
                </a:lnTo>
                <a:lnTo>
                  <a:pt x="875081" y="431589"/>
                </a:lnTo>
                <a:lnTo>
                  <a:pt x="885139" y="433285"/>
                </a:lnTo>
                <a:lnTo>
                  <a:pt x="895198" y="434956"/>
                </a:lnTo>
                <a:lnTo>
                  <a:pt x="905256" y="436602"/>
                </a:lnTo>
                <a:lnTo>
                  <a:pt x="915314" y="438224"/>
                </a:lnTo>
                <a:lnTo>
                  <a:pt x="925373" y="439823"/>
                </a:lnTo>
                <a:lnTo>
                  <a:pt x="935431" y="441398"/>
                </a:lnTo>
                <a:lnTo>
                  <a:pt x="945490" y="442951"/>
                </a:lnTo>
                <a:lnTo>
                  <a:pt x="955548" y="444482"/>
                </a:lnTo>
                <a:lnTo>
                  <a:pt x="965606" y="445991"/>
                </a:lnTo>
                <a:lnTo>
                  <a:pt x="975665" y="447479"/>
                </a:lnTo>
                <a:lnTo>
                  <a:pt x="985723" y="448947"/>
                </a:lnTo>
                <a:lnTo>
                  <a:pt x="995782" y="450394"/>
                </a:lnTo>
                <a:lnTo>
                  <a:pt x="1005840" y="451821"/>
                </a:lnTo>
              </a:path>
            </a:pathLst>
          </a:custGeom>
          <a:ln w="10160">
            <a:solidFill>
              <a:srgbClr val="404040"/>
            </a:solidFill>
            <a:prstDash val="sysDot"/>
          </a:ln>
        </p:spPr>
      </p:sp>
      <p:sp>
        <p:nvSpPr>
          <p:cNvPr id="196" name="Text 194"/>
          <p:cNvSpPr txBox="1"/>
          <p:nvPr/>
        </p:nvSpPr>
        <p:spPr>
          <a:xfrm>
            <a:off x="4483930" y="745236"/>
            <a:ext cx="45720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1/</a:t>
            </a:r>
            <a:pPr algn="r" indent="0" marL="0">
              <a:buNone/>
            </a:pPr>
            <a:r>
              <a:rPr lang="en-US" sz="63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630" dirty="0"/>
          </a:p>
        </p:txBody>
      </p:sp>
      <p:sp>
        <p:nvSpPr>
          <p:cNvPr id="197" name="Text 195"/>
          <p:cNvSpPr txBox="1"/>
          <p:nvPr/>
        </p:nvSpPr>
        <p:spPr>
          <a:xfrm>
            <a:off x="4128516" y="26883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3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arrival finds</a:t>
            </a:r>
            <a:endParaRPr lang="en-US" sz="63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63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slot busy</a:t>
            </a:r>
            <a:endParaRPr lang="en-US" sz="630" dirty="0"/>
          </a:p>
        </p:txBody>
      </p:sp>
      <p:sp>
        <p:nvSpPr>
          <p:cNvPr id="198" name="Shape 196"/>
          <p:cNvSpPr/>
          <p:nvPr/>
        </p:nvSpPr>
        <p:spPr>
          <a:xfrm>
            <a:off x="3830683" y="512711"/>
            <a:ext cx="1034578" cy="236021"/>
          </a:xfrm>
          <a:custGeom>
            <a:avLst/>
            <a:gdLst/>
            <a:ahLst/>
            <a:cxnLst/>
            <a:rect l="l" t="t" r="r" b="b"/>
            <a:pathLst>
              <a:path w="1034578" h="236021">
                <a:moveTo>
                  <a:pt x="0" y="204296"/>
                </a:moveTo>
                <a:lnTo>
                  <a:pt x="172430" y="201109"/>
                </a:lnTo>
                <a:lnTo>
                  <a:pt x="344859" y="342"/>
                </a:lnTo>
                <a:lnTo>
                  <a:pt x="517289" y="8462"/>
                </a:lnTo>
                <a:lnTo>
                  <a:pt x="689719" y="0"/>
                </a:lnTo>
                <a:lnTo>
                  <a:pt x="1034578" y="8155"/>
                </a:lnTo>
                <a:lnTo>
                  <a:pt x="1034578" y="188214"/>
                </a:lnTo>
                <a:lnTo>
                  <a:pt x="689719" y="211090"/>
                </a:lnTo>
                <a:lnTo>
                  <a:pt x="517289" y="232992"/>
                </a:lnTo>
                <a:lnTo>
                  <a:pt x="344859" y="197879"/>
                </a:lnTo>
                <a:lnTo>
                  <a:pt x="172430" y="236021"/>
                </a:lnTo>
                <a:lnTo>
                  <a:pt x="0" y="234879"/>
                </a:lnTo>
                <a:close/>
              </a:path>
            </a:pathLst>
          </a:custGeom>
          <a:solidFill>
            <a:srgbClr val="BDD7EE"/>
          </a:solidFill>
          <a:ln/>
        </p:spPr>
      </p:sp>
      <p:sp>
        <p:nvSpPr>
          <p:cNvPr id="199" name="Shape 197"/>
          <p:cNvSpPr/>
          <p:nvPr/>
        </p:nvSpPr>
        <p:spPr>
          <a:xfrm>
            <a:off x="3830683" y="454897"/>
            <a:ext cx="1034578" cy="4635"/>
          </a:xfrm>
          <a:custGeom>
            <a:avLst/>
            <a:gdLst/>
            <a:ahLst/>
            <a:cxnLst/>
            <a:rect l="l" t="t" r="r" b="b"/>
            <a:pathLst>
              <a:path w="1034578" h="4635">
                <a:moveTo>
                  <a:pt x="0" y="0"/>
                </a:moveTo>
                <a:lnTo>
                  <a:pt x="172430" y="211"/>
                </a:lnTo>
                <a:lnTo>
                  <a:pt x="344859" y="97"/>
                </a:lnTo>
                <a:lnTo>
                  <a:pt x="517289" y="887"/>
                </a:lnTo>
                <a:lnTo>
                  <a:pt x="689719" y="746"/>
                </a:lnTo>
                <a:lnTo>
                  <a:pt x="1034578" y="729"/>
                </a:lnTo>
                <a:lnTo>
                  <a:pt x="1034578" y="4310"/>
                </a:lnTo>
                <a:lnTo>
                  <a:pt x="689719" y="4635"/>
                </a:lnTo>
                <a:lnTo>
                  <a:pt x="517289" y="4424"/>
                </a:lnTo>
                <a:lnTo>
                  <a:pt x="344859" y="4389"/>
                </a:lnTo>
                <a:lnTo>
                  <a:pt x="172430" y="4363"/>
                </a:lnTo>
                <a:lnTo>
                  <a:pt x="0" y="3933"/>
                </a:lnTo>
                <a:close/>
              </a:path>
            </a:pathLst>
          </a:custGeom>
          <a:solidFill>
            <a:srgbClr val="D9D9D9"/>
          </a:solidFill>
          <a:ln/>
        </p:spPr>
      </p:sp>
      <p:sp>
        <p:nvSpPr>
          <p:cNvPr id="200" name="Shape 198"/>
          <p:cNvSpPr/>
          <p:nvPr/>
        </p:nvSpPr>
        <p:spPr>
          <a:xfrm>
            <a:off x="3830683" y="457048"/>
            <a:ext cx="1034578" cy="914"/>
          </a:xfrm>
          <a:custGeom>
            <a:avLst/>
            <a:gdLst/>
            <a:ahLst/>
            <a:cxnLst/>
            <a:rect l="l" t="t" r="r" b="b"/>
            <a:pathLst>
              <a:path w="1034578" h="914">
                <a:moveTo>
                  <a:pt x="0" y="0"/>
                </a:moveTo>
                <a:lnTo>
                  <a:pt x="172430" y="158"/>
                </a:lnTo>
                <a:lnTo>
                  <a:pt x="344859" y="255"/>
                </a:lnTo>
                <a:lnTo>
                  <a:pt x="517289" y="544"/>
                </a:lnTo>
                <a:lnTo>
                  <a:pt x="689719" y="588"/>
                </a:lnTo>
                <a:lnTo>
                  <a:pt x="1034578" y="518"/>
                </a:lnTo>
              </a:path>
            </a:pathLst>
          </a:custGeom>
          <a:ln w="13970">
            <a:solidFill>
              <a:srgbClr val="7F7F7F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808051" y="434416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980481" y="434574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152911" y="434671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325341" y="434961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4497770" y="435005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842630" y="434934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830683" y="607551"/>
            <a:ext cx="1034578" cy="128496"/>
          </a:xfrm>
          <a:custGeom>
            <a:avLst/>
            <a:gdLst/>
            <a:ahLst/>
            <a:cxnLst/>
            <a:rect l="l" t="t" r="r" b="b"/>
            <a:pathLst>
              <a:path w="1034578" h="128496">
                <a:moveTo>
                  <a:pt x="0" y="128496"/>
                </a:moveTo>
                <a:lnTo>
                  <a:pt x="172430" y="126091"/>
                </a:lnTo>
                <a:lnTo>
                  <a:pt x="344859" y="14309"/>
                </a:lnTo>
                <a:lnTo>
                  <a:pt x="517289" y="37071"/>
                </a:lnTo>
                <a:lnTo>
                  <a:pt x="689719" y="11543"/>
                </a:lnTo>
                <a:lnTo>
                  <a:pt x="1034578" y="0"/>
                </a:lnTo>
              </a:path>
            </a:pathLst>
          </a:custGeom>
          <a:ln w="16510">
            <a:solidFill>
              <a:srgbClr val="4472C4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805537" y="710901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977967" y="708495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150396" y="596713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322826" y="619475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495256" y="593948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840115" y="582405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3830683" y="603109"/>
            <a:ext cx="1034578" cy="135238"/>
          </a:xfrm>
          <a:custGeom>
            <a:avLst/>
            <a:gdLst/>
            <a:ahLst/>
            <a:cxnLst/>
            <a:rect l="l" t="t" r="r" b="b"/>
            <a:pathLst>
              <a:path w="1034578" h="135238">
                <a:moveTo>
                  <a:pt x="0" y="135238"/>
                </a:moveTo>
                <a:lnTo>
                  <a:pt x="172430" y="133464"/>
                </a:lnTo>
                <a:lnTo>
                  <a:pt x="344859" y="18250"/>
                </a:lnTo>
                <a:lnTo>
                  <a:pt x="517289" y="49448"/>
                </a:lnTo>
                <a:lnTo>
                  <a:pt x="689719" y="17477"/>
                </a:lnTo>
                <a:lnTo>
                  <a:pt x="1034578" y="0"/>
                </a:lnTo>
              </a:path>
            </a:pathLst>
          </a:custGeom>
          <a:ln w="13970">
            <a:solidFill>
              <a:srgbClr val="ED7D31"/>
            </a:solidFill>
            <a:prstDash val="dash"/>
          </a:ln>
        </p:spPr>
      </p:sp>
      <p:sp>
        <p:nvSpPr>
          <p:cNvPr id="215" name="Shape 213"/>
          <p:cNvSpPr/>
          <p:nvPr/>
        </p:nvSpPr>
        <p:spPr>
          <a:xfrm>
            <a:off x="3797993" y="705657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970423" y="703884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142852" y="588669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315282" y="619867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487712" y="587897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832571" y="570419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116298" y="411846"/>
            <a:ext cx="91440" cy="91440"/>
          </a:xfrm>
          <a:prstGeom prst="ellipse">
            <a:avLst/>
          </a:prstGeom>
          <a:ln w="8890">
            <a:solidFill>
              <a:srgbClr val="00000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744468" y="246888"/>
            <a:ext cx="1207008" cy="658368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3717036" y="905256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24" name="Text 222"/>
          <p:cNvSpPr txBox="1"/>
          <p:nvPr/>
        </p:nvSpPr>
        <p:spPr>
          <a:xfrm>
            <a:off x="3332988" y="850392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225" name="Shape 223"/>
          <p:cNvSpPr/>
          <p:nvPr/>
        </p:nvSpPr>
        <p:spPr>
          <a:xfrm>
            <a:off x="3717036" y="685800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26" name="Text 224"/>
          <p:cNvSpPr txBox="1"/>
          <p:nvPr/>
        </p:nvSpPr>
        <p:spPr>
          <a:xfrm>
            <a:off x="3332988" y="630936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227" name="Shape 225"/>
          <p:cNvSpPr/>
          <p:nvPr/>
        </p:nvSpPr>
        <p:spPr>
          <a:xfrm>
            <a:off x="3717036" y="466344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28" name="Text 226"/>
          <p:cNvSpPr txBox="1"/>
          <p:nvPr/>
        </p:nvSpPr>
        <p:spPr>
          <a:xfrm>
            <a:off x="3332988" y="411480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00" dirty="0"/>
          </a:p>
        </p:txBody>
      </p:sp>
      <p:sp>
        <p:nvSpPr>
          <p:cNvPr id="229" name="Shape 227"/>
          <p:cNvSpPr/>
          <p:nvPr/>
        </p:nvSpPr>
        <p:spPr>
          <a:xfrm>
            <a:off x="3717036" y="246888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3332988" y="192024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700" dirty="0"/>
          </a:p>
        </p:txBody>
      </p:sp>
      <p:sp>
        <p:nvSpPr>
          <p:cNvPr id="231" name="Shape 229"/>
          <p:cNvSpPr/>
          <p:nvPr/>
        </p:nvSpPr>
        <p:spPr>
          <a:xfrm>
            <a:off x="3830683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3556363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233" name="Shape 231"/>
          <p:cNvSpPr/>
          <p:nvPr/>
        </p:nvSpPr>
        <p:spPr>
          <a:xfrm>
            <a:off x="4003113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34" name="Text 232"/>
          <p:cNvSpPr txBox="1"/>
          <p:nvPr/>
        </p:nvSpPr>
        <p:spPr>
          <a:xfrm>
            <a:off x="3728793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235" name="Shape 233"/>
          <p:cNvSpPr/>
          <p:nvPr/>
        </p:nvSpPr>
        <p:spPr>
          <a:xfrm>
            <a:off x="4175542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36" name="Text 234"/>
          <p:cNvSpPr txBox="1"/>
          <p:nvPr/>
        </p:nvSpPr>
        <p:spPr>
          <a:xfrm>
            <a:off x="3901222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237" name="Shape 235"/>
          <p:cNvSpPr/>
          <p:nvPr/>
        </p:nvSpPr>
        <p:spPr>
          <a:xfrm>
            <a:off x="4347972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38" name="Text 236"/>
          <p:cNvSpPr txBox="1"/>
          <p:nvPr/>
        </p:nvSpPr>
        <p:spPr>
          <a:xfrm>
            <a:off x="4073652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239" name="Shape 237"/>
          <p:cNvSpPr/>
          <p:nvPr/>
        </p:nvSpPr>
        <p:spPr>
          <a:xfrm>
            <a:off x="4520402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40" name="Text 238"/>
          <p:cNvSpPr txBox="1"/>
          <p:nvPr/>
        </p:nvSpPr>
        <p:spPr>
          <a:xfrm>
            <a:off x="4246082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00" dirty="0"/>
          </a:p>
        </p:txBody>
      </p:sp>
      <p:sp>
        <p:nvSpPr>
          <p:cNvPr id="241" name="Shape 239"/>
          <p:cNvSpPr/>
          <p:nvPr/>
        </p:nvSpPr>
        <p:spPr>
          <a:xfrm>
            <a:off x="4865261" y="90525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42" name="Text 240"/>
          <p:cNvSpPr txBox="1"/>
          <p:nvPr/>
        </p:nvSpPr>
        <p:spPr>
          <a:xfrm>
            <a:off x="4590941" y="93726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700" dirty="0"/>
          </a:p>
        </p:txBody>
      </p:sp>
      <p:sp>
        <p:nvSpPr>
          <p:cNvPr id="243" name="Text 241"/>
          <p:cNvSpPr txBox="1"/>
          <p:nvPr/>
        </p:nvSpPr>
        <p:spPr>
          <a:xfrm>
            <a:off x="3561588" y="1051560"/>
            <a:ext cx="1572768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rate (Hz)</a:t>
            </a:r>
            <a:endParaRPr lang="en-US" sz="750" dirty="0"/>
          </a:p>
        </p:txBody>
      </p:sp>
      <p:sp>
        <p:nvSpPr>
          <p:cNvPr id="244" name="Text 242"/>
          <p:cNvSpPr txBox="1"/>
          <p:nvPr/>
        </p:nvSpPr>
        <p:spPr>
          <a:xfrm rot="16200000">
            <a:off x="2930652" y="521894"/>
            <a:ext cx="109728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hold time (ms)</a:t>
            </a:r>
            <a:endParaRPr lang="en-US" sz="750" dirty="0"/>
          </a:p>
        </p:txBody>
      </p:sp>
      <p:sp>
        <p:nvSpPr>
          <p:cNvPr id="245" name="Text 243"/>
          <p:cNvSpPr txBox="1"/>
          <p:nvPr/>
        </p:nvSpPr>
        <p:spPr>
          <a:xfrm>
            <a:off x="3406140" y="1197864"/>
            <a:ext cx="159105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hold time versus the period</a:t>
            </a:r>
            <a:endParaRPr lang="en-US" sz="750" dirty="0"/>
          </a:p>
        </p:txBody>
      </p:sp>
      <p:sp>
        <p:nvSpPr>
          <p:cNvPr id="246" name="Shape 244"/>
          <p:cNvSpPr/>
          <p:nvPr/>
        </p:nvSpPr>
        <p:spPr>
          <a:xfrm>
            <a:off x="5362956" y="785553"/>
            <a:ext cx="1078992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5362956" y="665849"/>
            <a:ext cx="1078992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5362956" y="546146"/>
            <a:ext cx="1078992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5362956" y="426443"/>
            <a:ext cx="1078992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5437458" y="434756"/>
            <a:ext cx="128451" cy="4705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51" name="Shape 249"/>
          <p:cNvSpPr/>
          <p:nvPr/>
        </p:nvSpPr>
        <p:spPr>
          <a:xfrm>
            <a:off x="5437458" y="434756"/>
            <a:ext cx="128451" cy="470500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252" name="Text 250"/>
          <p:cNvSpPr txBox="1"/>
          <p:nvPr/>
        </p:nvSpPr>
        <p:spPr>
          <a:xfrm rot="16200000">
            <a:off x="5318804" y="187868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</a:t>
            </a:r>
            <a:endParaRPr lang="en-US" sz="630" dirty="0"/>
          </a:p>
        </p:txBody>
      </p:sp>
      <p:sp>
        <p:nvSpPr>
          <p:cNvPr id="253" name="Shape 251"/>
          <p:cNvSpPr/>
          <p:nvPr/>
        </p:nvSpPr>
        <p:spPr>
          <a:xfrm>
            <a:off x="5581323" y="435085"/>
            <a:ext cx="128451" cy="4701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4" name="Shape 252"/>
          <p:cNvSpPr/>
          <p:nvPr/>
        </p:nvSpPr>
        <p:spPr>
          <a:xfrm flipV="1">
            <a:off x="5581323" y="435085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 flipV="1">
            <a:off x="5581323" y="435085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 flipV="1">
            <a:off x="5581323" y="435085"/>
            <a:ext cx="91440" cy="91440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 flipV="1">
            <a:off x="5581323" y="435085"/>
            <a:ext cx="128016" cy="12801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 flipV="1">
            <a:off x="5581323" y="471226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 flipV="1">
            <a:off x="5581323" y="507802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flipV="1">
            <a:off x="5581323" y="544378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 flipV="1">
            <a:off x="5581323" y="580954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flipV="1">
            <a:off x="5581323" y="617530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 flipV="1">
            <a:off x="5581323" y="654106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 flipV="1">
            <a:off x="5581323" y="690682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 flipV="1">
            <a:off x="5581323" y="727258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flipV="1">
            <a:off x="5581323" y="763834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 flipV="1">
            <a:off x="5604929" y="800410"/>
            <a:ext cx="104846" cy="10484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flipV="1">
            <a:off x="5641505" y="836986"/>
            <a:ext cx="68270" cy="68270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 flipV="1">
            <a:off x="5678081" y="873562"/>
            <a:ext cx="31694" cy="3169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5581323" y="435085"/>
            <a:ext cx="128451" cy="470171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271" name="Text 269"/>
          <p:cNvSpPr txBox="1"/>
          <p:nvPr/>
        </p:nvSpPr>
        <p:spPr>
          <a:xfrm rot="16200000">
            <a:off x="5462669" y="188197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</a:t>
            </a:r>
            <a:endParaRPr lang="en-US" sz="630" dirty="0"/>
          </a:p>
        </p:txBody>
      </p:sp>
      <p:sp>
        <p:nvSpPr>
          <p:cNvPr id="272" name="Shape 270"/>
          <p:cNvSpPr/>
          <p:nvPr/>
        </p:nvSpPr>
        <p:spPr>
          <a:xfrm>
            <a:off x="5725189" y="546481"/>
            <a:ext cx="128451" cy="35877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3" name="Shape 271"/>
          <p:cNvSpPr/>
          <p:nvPr/>
        </p:nvSpPr>
        <p:spPr>
          <a:xfrm>
            <a:off x="5725189" y="886968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5725189" y="850392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5725189" y="813816"/>
            <a:ext cx="91440" cy="91440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725189" y="777240"/>
            <a:ext cx="128016" cy="12801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5725189" y="740664"/>
            <a:ext cx="128451" cy="12845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5725189" y="704088"/>
            <a:ext cx="128451" cy="12845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5725189" y="667512"/>
            <a:ext cx="128451" cy="12845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5725189" y="630936"/>
            <a:ext cx="128451" cy="12845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725189" y="594360"/>
            <a:ext cx="128451" cy="12845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5725189" y="557784"/>
            <a:ext cx="128451" cy="12845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5750462" y="546481"/>
            <a:ext cx="103178" cy="10317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5787038" y="546481"/>
            <a:ext cx="66602" cy="6660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5823614" y="546481"/>
            <a:ext cx="30026" cy="3002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5725189" y="546481"/>
            <a:ext cx="128451" cy="358775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287" name="Text 285"/>
          <p:cNvSpPr txBox="1"/>
          <p:nvPr/>
        </p:nvSpPr>
        <p:spPr>
          <a:xfrm rot="16200000">
            <a:off x="5606535" y="299593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59.9</a:t>
            </a:r>
            <a:endParaRPr lang="en-US" sz="630" dirty="0"/>
          </a:p>
        </p:txBody>
      </p:sp>
      <p:sp>
        <p:nvSpPr>
          <p:cNvPr id="288" name="Shape 286"/>
          <p:cNvSpPr/>
          <p:nvPr/>
        </p:nvSpPr>
        <p:spPr>
          <a:xfrm>
            <a:off x="5951264" y="546146"/>
            <a:ext cx="128451" cy="35911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89" name="Shape 287"/>
          <p:cNvSpPr/>
          <p:nvPr/>
        </p:nvSpPr>
        <p:spPr>
          <a:xfrm>
            <a:off x="5951264" y="546146"/>
            <a:ext cx="128451" cy="359110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290" name="Text 288"/>
          <p:cNvSpPr txBox="1"/>
          <p:nvPr/>
        </p:nvSpPr>
        <p:spPr>
          <a:xfrm rot="16200000">
            <a:off x="5832609" y="299258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</a:t>
            </a:r>
            <a:endParaRPr lang="en-US" sz="630" dirty="0"/>
          </a:p>
        </p:txBody>
      </p:sp>
      <p:sp>
        <p:nvSpPr>
          <p:cNvPr id="291" name="Shape 289"/>
          <p:cNvSpPr/>
          <p:nvPr/>
        </p:nvSpPr>
        <p:spPr>
          <a:xfrm>
            <a:off x="6095129" y="546146"/>
            <a:ext cx="128451" cy="3591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2" name="Shape 290"/>
          <p:cNvSpPr/>
          <p:nvPr/>
        </p:nvSpPr>
        <p:spPr>
          <a:xfrm flipV="1">
            <a:off x="6095129" y="546146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 flipV="1">
            <a:off x="6095129" y="546146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 flipV="1">
            <a:off x="6095129" y="546146"/>
            <a:ext cx="91440" cy="91440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 flipV="1">
            <a:off x="6095129" y="546146"/>
            <a:ext cx="128016" cy="12801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 flipV="1">
            <a:off x="6095129" y="582287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 flipV="1">
            <a:off x="6095129" y="618863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 flipV="1">
            <a:off x="6095129" y="655439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 flipV="1">
            <a:off x="6095129" y="692015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 flipV="1">
            <a:off x="6095129" y="728591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 flipV="1">
            <a:off x="6095129" y="765167"/>
            <a:ext cx="128451" cy="12845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 flipV="1">
            <a:off x="6120067" y="801743"/>
            <a:ext cx="103513" cy="103513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 flipV="1">
            <a:off x="6156643" y="838319"/>
            <a:ext cx="66937" cy="66937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 flipV="1">
            <a:off x="6193219" y="874895"/>
            <a:ext cx="30361" cy="3036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6095129" y="546146"/>
            <a:ext cx="128451" cy="359110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306" name="Text 304"/>
          <p:cNvSpPr txBox="1"/>
          <p:nvPr/>
        </p:nvSpPr>
        <p:spPr>
          <a:xfrm rot="16200000">
            <a:off x="5976475" y="299258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</a:t>
            </a:r>
            <a:endParaRPr lang="en-US" sz="630" dirty="0"/>
          </a:p>
        </p:txBody>
      </p:sp>
      <p:sp>
        <p:nvSpPr>
          <p:cNvPr id="307" name="Shape 305"/>
          <p:cNvSpPr/>
          <p:nvPr/>
        </p:nvSpPr>
        <p:spPr>
          <a:xfrm>
            <a:off x="6238995" y="546146"/>
            <a:ext cx="128451" cy="35911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08" name="Shape 306"/>
          <p:cNvSpPr/>
          <p:nvPr/>
        </p:nvSpPr>
        <p:spPr>
          <a:xfrm>
            <a:off x="6238995" y="886968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6238995" y="850392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6238995" y="813816"/>
            <a:ext cx="91440" cy="91440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6238995" y="777240"/>
            <a:ext cx="128016" cy="12801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6238995" y="740664"/>
            <a:ext cx="128451" cy="12845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6238995" y="704088"/>
            <a:ext cx="128451" cy="12845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6238995" y="667512"/>
            <a:ext cx="128451" cy="12845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6238995" y="630936"/>
            <a:ext cx="128451" cy="12845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6238995" y="594360"/>
            <a:ext cx="128451" cy="12845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6238995" y="557784"/>
            <a:ext cx="128451" cy="12845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6263933" y="546146"/>
            <a:ext cx="103513" cy="103513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6300509" y="546146"/>
            <a:ext cx="66937" cy="66937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6337085" y="546146"/>
            <a:ext cx="30361" cy="3036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6238995" y="546146"/>
            <a:ext cx="128451" cy="359110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322" name="Text 320"/>
          <p:cNvSpPr txBox="1"/>
          <p:nvPr/>
        </p:nvSpPr>
        <p:spPr>
          <a:xfrm rot="16200000">
            <a:off x="6120340" y="299258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</a:t>
            </a:r>
            <a:endParaRPr lang="en-US" sz="630" dirty="0"/>
          </a:p>
        </p:txBody>
      </p:sp>
      <p:sp>
        <p:nvSpPr>
          <p:cNvPr id="323" name="Shape 321"/>
          <p:cNvSpPr/>
          <p:nvPr/>
        </p:nvSpPr>
        <p:spPr>
          <a:xfrm>
            <a:off x="5362956" y="246888"/>
            <a:ext cx="1078992" cy="658368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5335524" y="905256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25" name="Text 323"/>
          <p:cNvSpPr txBox="1"/>
          <p:nvPr/>
        </p:nvSpPr>
        <p:spPr>
          <a:xfrm>
            <a:off x="4951476" y="850392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326" name="Shape 324"/>
          <p:cNvSpPr/>
          <p:nvPr/>
        </p:nvSpPr>
        <p:spPr>
          <a:xfrm>
            <a:off x="5335524" y="785553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27" name="Text 325"/>
          <p:cNvSpPr txBox="1"/>
          <p:nvPr/>
        </p:nvSpPr>
        <p:spPr>
          <a:xfrm>
            <a:off x="4951476" y="730689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328" name="Shape 326"/>
          <p:cNvSpPr/>
          <p:nvPr/>
        </p:nvSpPr>
        <p:spPr>
          <a:xfrm>
            <a:off x="5335524" y="665849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29" name="Text 327"/>
          <p:cNvSpPr txBox="1"/>
          <p:nvPr/>
        </p:nvSpPr>
        <p:spPr>
          <a:xfrm>
            <a:off x="4951476" y="610985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700" dirty="0"/>
          </a:p>
        </p:txBody>
      </p:sp>
      <p:sp>
        <p:nvSpPr>
          <p:cNvPr id="330" name="Shape 328"/>
          <p:cNvSpPr/>
          <p:nvPr/>
        </p:nvSpPr>
        <p:spPr>
          <a:xfrm>
            <a:off x="5335524" y="546146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31" name="Text 329"/>
          <p:cNvSpPr txBox="1"/>
          <p:nvPr/>
        </p:nvSpPr>
        <p:spPr>
          <a:xfrm>
            <a:off x="4951476" y="491282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700" dirty="0"/>
          </a:p>
        </p:txBody>
      </p:sp>
      <p:sp>
        <p:nvSpPr>
          <p:cNvPr id="332" name="Shape 330"/>
          <p:cNvSpPr/>
          <p:nvPr/>
        </p:nvSpPr>
        <p:spPr>
          <a:xfrm>
            <a:off x="5335524" y="426443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33" name="Text 331"/>
          <p:cNvSpPr txBox="1"/>
          <p:nvPr/>
        </p:nvSpPr>
        <p:spPr>
          <a:xfrm>
            <a:off x="4951476" y="371579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700" dirty="0"/>
          </a:p>
        </p:txBody>
      </p:sp>
      <p:sp>
        <p:nvSpPr>
          <p:cNvPr id="334" name="Text 332"/>
          <p:cNvSpPr txBox="1"/>
          <p:nvPr/>
        </p:nvSpPr>
        <p:spPr>
          <a:xfrm rot="16200000">
            <a:off x="4549140" y="512064"/>
            <a:ext cx="109728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results/s</a:t>
            </a:r>
            <a:endParaRPr lang="en-US" sz="750" dirty="0"/>
          </a:p>
        </p:txBody>
      </p:sp>
      <p:sp>
        <p:nvSpPr>
          <p:cNvPr id="335" name="Text 333"/>
          <p:cNvSpPr txBox="1"/>
          <p:nvPr/>
        </p:nvSpPr>
        <p:spPr>
          <a:xfrm>
            <a:off x="5279789" y="923544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head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 1/287)</a:t>
            </a:r>
            <a:endParaRPr lang="en-US" sz="700" dirty="0"/>
          </a:p>
        </p:txBody>
      </p:sp>
      <p:sp>
        <p:nvSpPr>
          <p:cNvPr id="336" name="Text 334"/>
          <p:cNvSpPr txBox="1"/>
          <p:nvPr/>
        </p:nvSpPr>
        <p:spPr>
          <a:xfrm>
            <a:off x="5793595" y="923544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read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 288/289)</a:t>
            </a:r>
            <a:endParaRPr lang="en-US" sz="700" dirty="0"/>
          </a:p>
        </p:txBody>
      </p:sp>
      <p:sp>
        <p:nvSpPr>
          <p:cNvPr id="337" name="Text 335"/>
          <p:cNvSpPr txBox="1"/>
          <p:nvPr/>
        </p:nvSpPr>
        <p:spPr>
          <a:xfrm>
            <a:off x="5024628" y="1197864"/>
            <a:ext cx="146304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vs. late last read (30 Hz)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fig5_delivery</dc:title>
  <dc:subject>ISPA r15: regenerated from r14 source coordinates and unchanged data</dc:subject>
  <dc:creator>ReadSeal authors</dc:creator>
  <cp:lastModifiedBy>ReadSeal authors</cp:lastModifiedBy>
  <cp:revision>1</cp:revision>
  <dcterms:created xsi:type="dcterms:W3CDTF">2026-09-29T11:55:40Z</dcterms:created>
  <dcterms:modified xsi:type="dcterms:W3CDTF">2026-09-29T11:55:40Z</dcterms:modified>
</cp:coreProperties>
</file>